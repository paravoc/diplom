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7"/>
  </p:notesMasterIdLst>
  <p:sldIdLst>
    <p:sldId id="285" r:id="rId2"/>
    <p:sldId id="296" r:id="rId3"/>
    <p:sldId id="317" r:id="rId4"/>
    <p:sldId id="287" r:id="rId5"/>
    <p:sldId id="288" r:id="rId6"/>
    <p:sldId id="307" r:id="rId7"/>
    <p:sldId id="289" r:id="rId8"/>
    <p:sldId id="290" r:id="rId9"/>
    <p:sldId id="292" r:id="rId10"/>
    <p:sldId id="293" r:id="rId11"/>
    <p:sldId id="294" r:id="rId12"/>
    <p:sldId id="297" r:id="rId13"/>
    <p:sldId id="299" r:id="rId14"/>
    <p:sldId id="300" r:id="rId15"/>
    <p:sldId id="302" r:id="rId16"/>
    <p:sldId id="305" r:id="rId17"/>
    <p:sldId id="306" r:id="rId18"/>
    <p:sldId id="308" r:id="rId19"/>
    <p:sldId id="309" r:id="rId20"/>
    <p:sldId id="318" r:id="rId21"/>
    <p:sldId id="311" r:id="rId22"/>
    <p:sldId id="313" r:id="rId23"/>
    <p:sldId id="314" r:id="rId24"/>
    <p:sldId id="315" r:id="rId25"/>
    <p:sldId id="316" r:id="rId26"/>
  </p:sldIdLst>
  <p:sldSz cx="9144000" cy="5143500" type="screen16x9"/>
  <p:notesSz cx="6858000" cy="9144000"/>
  <p:embeddedFontLst>
    <p:embeddedFont>
      <p:font typeface="Arvo" panose="020B0604020202020204" charset="0"/>
      <p:regular r:id="rId28"/>
      <p:bold r:id="rId29"/>
      <p:italic r:id="rId30"/>
      <p:boldItalic r:id="rId31"/>
    </p:embeddedFont>
    <p:embeddedFont>
      <p:font typeface="Roboto Condensed Light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5378"/>
    <a:srgbClr val="3841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CE2665-CDE5-4DEE-A53D-BA796C76628F}">
  <a:tblStyle styleId="{25CE2665-CDE5-4DEE-A53D-BA796C7662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4611" autoAdjust="0"/>
  </p:normalViewPr>
  <p:slideViewPr>
    <p:cSldViewPr>
      <p:cViewPr varScale="1">
        <p:scale>
          <a:sx n="155" d="100"/>
          <a:sy n="155" d="100"/>
        </p:scale>
        <p:origin x="662" y="10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28699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739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085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8057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409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367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26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86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984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345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288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3217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771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142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535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582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783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738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661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1259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590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2105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53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929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483768" y="183032"/>
            <a:ext cx="51845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>
                <a:solidFill>
                  <a:srgbClr val="3F5378"/>
                </a:solidFill>
                <a:latin typeface="Roboto Condensed Light" panose="020B0604020202020204" charset="0"/>
                <a:ea typeface="Roboto Condensed Light" panose="020B0604020202020204" charset="0"/>
              </a:rPr>
              <a:t>НАЦИОНАЛЬНЫЙ ИССЛЕДОВАТЕЛЬСКИЙ ЯДЕРНЫЙ УНИВЕРСИТЕТ «МИФИ» (НИЯУ МИФИ)</a:t>
            </a:r>
          </a:p>
          <a:p>
            <a:pPr algn="r"/>
            <a:r>
              <a:rPr lang="ru-RU" b="1" dirty="0">
                <a:solidFill>
                  <a:srgbClr val="3F5378"/>
                </a:solidFill>
                <a:latin typeface="Roboto Condensed Light" panose="020B0604020202020204" charset="0"/>
                <a:ea typeface="Roboto Condensed Light" panose="020B0604020202020204" charset="0"/>
              </a:rPr>
              <a:t>ОБНИНСКИЙ ИНСТИТУТ АТОМНОЙ ЭНЕРГЕТИКИ (ИАТЭ</a:t>
            </a:r>
            <a:r>
              <a:rPr lang="ru-RU" b="1" dirty="0">
                <a:solidFill>
                  <a:srgbClr val="3F5378"/>
                </a:solidFill>
              </a:rPr>
              <a:t>)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19756"/>
            <a:ext cx="1957307" cy="851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60400" y="1422400"/>
            <a:ext cx="7302500" cy="2286000"/>
          </a:xfrm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lvl="0"/>
            <a:r>
              <a:rPr lang="ru-RU" sz="2700"/>
              <a:t>Разработка системы видеонаблюдения</a:t>
            </a:r>
            <a:br>
              <a:rPr lang="ru-RU" sz="2700"/>
            </a:br>
            <a:r>
              <a:rPr lang="ru-RU" sz="2700"/>
              <a:t>с биометрической идентификацией личности</a:t>
            </a:r>
            <a:br>
              <a:rPr lang="ru-RU" sz="2700"/>
            </a:br>
            <a:r>
              <a:rPr lang="ru-RU" sz="2700"/>
              <a:t>на основе анализа и сравнения</a:t>
            </a:r>
            <a:br>
              <a:rPr lang="ru-RU" sz="2700"/>
            </a:br>
            <a:r>
              <a:rPr lang="ru-RU" sz="2700"/>
              <a:t>признаков лица</a:t>
            </a:r>
            <a:endParaRPr sz="2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C5F87-360A-4161-A28F-F5C3B9B91497}"/>
              </a:ext>
            </a:extLst>
          </p:cNvPr>
          <p:cNvSpPr txBox="1"/>
          <p:nvPr/>
        </p:nvSpPr>
        <p:spPr>
          <a:xfrm>
            <a:off x="251520" y="4155926"/>
            <a:ext cx="4657080" cy="83820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50" dirty="0">
                <a:solidFill>
                  <a:srgbClr val="203353"/>
                </a:solidFill>
                <a:latin typeface="Roboto Condensed"/>
              </a:rPr>
              <a:t>Выпускная квалификационная работа</a:t>
            </a:r>
          </a:p>
          <a:p>
            <a:r>
              <a:rPr lang="ru-RU" sz="950" dirty="0">
                <a:solidFill>
                  <a:srgbClr val="203353"/>
                </a:solidFill>
                <a:latin typeface="Roboto Condensed"/>
              </a:rPr>
              <a:t>Выполнил: студент гр. ИС-Б22 Смирнов Д. Р.</a:t>
            </a:r>
          </a:p>
          <a:p>
            <a:r>
              <a:rPr lang="ru-RU" sz="950" dirty="0">
                <a:solidFill>
                  <a:srgbClr val="203353"/>
                </a:solidFill>
                <a:latin typeface="Roboto Condensed"/>
              </a:rPr>
              <a:t>Научный руководитель: </a:t>
            </a:r>
            <a:endParaRPr lang="en-US" sz="950" dirty="0">
              <a:solidFill>
                <a:srgbClr val="203353"/>
              </a:solidFill>
              <a:latin typeface="Roboto Condensed"/>
            </a:endParaRPr>
          </a:p>
          <a:p>
            <a:r>
              <a:rPr lang="ru-RU" sz="950" dirty="0">
                <a:solidFill>
                  <a:srgbClr val="203353"/>
                </a:solidFill>
                <a:latin typeface="Roboto Condensed"/>
              </a:rPr>
              <a:t>ст. Преподаватель</a:t>
            </a:r>
            <a:r>
              <a:rPr lang="en-US" sz="950" dirty="0">
                <a:solidFill>
                  <a:srgbClr val="203353"/>
                </a:solidFill>
                <a:latin typeface="Roboto Condensed"/>
              </a:rPr>
              <a:t> </a:t>
            </a:r>
            <a:r>
              <a:rPr lang="ru-RU" sz="950" dirty="0">
                <a:solidFill>
                  <a:srgbClr val="203353"/>
                </a:solidFill>
                <a:latin typeface="Roboto Condensed"/>
              </a:rPr>
              <a:t>Охрименко И. В.</a:t>
            </a:r>
          </a:p>
          <a:p>
            <a:r>
              <a:rPr lang="ru-RU" sz="950" dirty="0">
                <a:solidFill>
                  <a:srgbClr val="203353"/>
                </a:solidFill>
                <a:latin typeface="Roboto Condensed"/>
              </a:rPr>
              <a:t>Обнинск, 2026</a:t>
            </a:r>
          </a:p>
        </p:txBody>
      </p:sp>
    </p:spTree>
    <p:extLst>
      <p:ext uri="{BB962C8B-B14F-4D97-AF65-F5344CB8AC3E}">
        <p14:creationId xmlns:p14="http://schemas.microsoft.com/office/powerpoint/2010/main" val="426222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Цель, объект и требования к прототипу</a:t>
            </a:r>
            <a:endParaRPr sz="17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</a:t>
            </a:r>
            <a:endParaRPr sz="800" b="0"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655B56-9734-44BD-89C4-89F200F2EDCD}"/>
              </a:ext>
            </a:extLst>
          </p:cNvPr>
          <p:cNvSpPr txBox="1"/>
          <p:nvPr/>
        </p:nvSpPr>
        <p:spPr>
          <a:xfrm>
            <a:off x="1498600" y="1549400"/>
            <a:ext cx="6817816" cy="5232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3200" dirty="0">
                <a:solidFill>
                  <a:srgbClr val="203353"/>
                </a:solidFill>
                <a:latin typeface="Roboto Condensed"/>
              </a:rPr>
              <a:t>цель: разработать прототип видеонаблюдения с идентификацией по лицу</a:t>
            </a:r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6F9E0116-17F5-4F5C-A9D9-C7BA69F61B75}"/>
              </a:ext>
            </a:extLst>
          </p:cNvPr>
          <p:cNvSpPr/>
          <p:nvPr/>
        </p:nvSpPr>
        <p:spPr>
          <a:xfrm>
            <a:off x="1056964" y="3826009"/>
            <a:ext cx="364928" cy="422633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AD7D2-6871-4FB5-B73E-76342D6C671A}"/>
              </a:ext>
            </a:extLst>
          </p:cNvPr>
          <p:cNvSpPr txBox="1"/>
          <p:nvPr/>
        </p:nvSpPr>
        <p:spPr>
          <a:xfrm>
            <a:off x="1591812" y="3514096"/>
            <a:ext cx="6817816" cy="5232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3200" dirty="0">
                <a:solidFill>
                  <a:srgbClr val="203353"/>
                </a:solidFill>
                <a:latin typeface="Roboto Condensed"/>
              </a:rPr>
              <a:t>объект: программный комплекс обработки видеопотока</a:t>
            </a:r>
          </a:p>
        </p:txBody>
      </p: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6ED8797A-6E15-4043-9DFF-C55F6B48E72A}"/>
              </a:ext>
            </a:extLst>
          </p:cNvPr>
          <p:cNvSpPr/>
          <p:nvPr/>
        </p:nvSpPr>
        <p:spPr>
          <a:xfrm>
            <a:off x="1056964" y="1952401"/>
            <a:ext cx="364928" cy="422633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49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Задачи ВКР</a:t>
            </a:r>
            <a:endParaRPr sz="17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3</a:t>
            </a:r>
            <a:endParaRPr sz="800" b="0"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Равнобедренный треугольник 1">
            <a:extLst>
              <a:ext uri="{FF2B5EF4-FFF2-40B4-BE49-F238E27FC236}">
                <a16:creationId xmlns:a16="http://schemas.microsoft.com/office/drawing/2014/main" id="{E4EEC3C0-5A6A-4C71-A0F5-9E12875CB346}"/>
              </a:ext>
            </a:extLst>
          </p:cNvPr>
          <p:cNvSpPr/>
          <p:nvPr/>
        </p:nvSpPr>
        <p:spPr>
          <a:xfrm>
            <a:off x="1270000" y="16256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3B599-B537-488D-A0B6-7C018CC07E68}"/>
              </a:ext>
            </a:extLst>
          </p:cNvPr>
          <p:cNvSpPr txBox="1"/>
          <p:nvPr/>
        </p:nvSpPr>
        <p:spPr>
          <a:xfrm>
            <a:off x="1651000" y="1549400"/>
            <a:ext cx="67310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420">
                <a:solidFill>
                  <a:srgbClr val="203353"/>
                </a:solidFill>
                <a:latin typeface="Roboto Condensed"/>
              </a:rPr>
              <a:t>проанализировать подходы к идентификации и распознаванию лиц</a:t>
            </a: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E2D28C1A-123A-48C4-B061-40DDB9AC3CA4}"/>
              </a:ext>
            </a:extLst>
          </p:cNvPr>
          <p:cNvSpPr/>
          <p:nvPr/>
        </p:nvSpPr>
        <p:spPr>
          <a:xfrm>
            <a:off x="1270000" y="20320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65EB3-8279-4559-9818-AAF51F7421AF}"/>
              </a:ext>
            </a:extLst>
          </p:cNvPr>
          <p:cNvSpPr txBox="1"/>
          <p:nvPr/>
        </p:nvSpPr>
        <p:spPr>
          <a:xfrm>
            <a:off x="1651000" y="1955800"/>
            <a:ext cx="67310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420">
                <a:solidFill>
                  <a:srgbClr val="203353"/>
                </a:solidFill>
                <a:latin typeface="Roboto Condensed"/>
              </a:rPr>
              <a:t>сравнить детекторы YOLOv8n и SSD-ResNet-10 для CPU-стенда</a:t>
            </a:r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ACF9540D-524E-427C-8FBD-5D2F3844EB3C}"/>
              </a:ext>
            </a:extLst>
          </p:cNvPr>
          <p:cNvSpPr/>
          <p:nvPr/>
        </p:nvSpPr>
        <p:spPr>
          <a:xfrm>
            <a:off x="1270000" y="24384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546-D892-4425-99A7-651D18C0488F}"/>
              </a:ext>
            </a:extLst>
          </p:cNvPr>
          <p:cNvSpPr txBox="1"/>
          <p:nvPr/>
        </p:nvSpPr>
        <p:spPr>
          <a:xfrm>
            <a:off x="1651000" y="2362200"/>
            <a:ext cx="67310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420" dirty="0">
                <a:solidFill>
                  <a:srgbClr val="203353"/>
                </a:solidFill>
                <a:latin typeface="Roboto Condensed"/>
              </a:rPr>
              <a:t>спроектировать архитектуру, модель данных, классы и потоки информации</a:t>
            </a:r>
          </a:p>
        </p:txBody>
      </p:sp>
      <p:sp>
        <p:nvSpPr>
          <p:cNvPr id="8" name="Равнобедренный треугольник 7">
            <a:extLst>
              <a:ext uri="{FF2B5EF4-FFF2-40B4-BE49-F238E27FC236}">
                <a16:creationId xmlns:a16="http://schemas.microsoft.com/office/drawing/2014/main" id="{CDE48CA5-CCC2-48A2-8B1F-B4836DF9E5C4}"/>
              </a:ext>
            </a:extLst>
          </p:cNvPr>
          <p:cNvSpPr/>
          <p:nvPr/>
        </p:nvSpPr>
        <p:spPr>
          <a:xfrm>
            <a:off x="1270000" y="28448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047D0F-7ACF-4D0A-8CC3-44923184E1B3}"/>
              </a:ext>
            </a:extLst>
          </p:cNvPr>
          <p:cNvSpPr txBox="1"/>
          <p:nvPr/>
        </p:nvSpPr>
        <p:spPr>
          <a:xfrm>
            <a:off x="1651000" y="2768600"/>
            <a:ext cx="67310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420" dirty="0">
                <a:solidFill>
                  <a:srgbClr val="203353"/>
                </a:solidFill>
                <a:latin typeface="Roboto Condensed"/>
              </a:rPr>
              <a:t>реализовать прототип на C++23 с </a:t>
            </a:r>
            <a:r>
              <a:rPr lang="ru-RU" sz="1420" dirty="0" err="1">
                <a:solidFill>
                  <a:srgbClr val="203353"/>
                </a:solidFill>
                <a:latin typeface="Roboto Condensed"/>
              </a:rPr>
              <a:t>Qt</a:t>
            </a:r>
            <a:r>
              <a:rPr lang="ru-RU" sz="1420" dirty="0">
                <a:solidFill>
                  <a:srgbClr val="203353"/>
                </a:solidFill>
                <a:latin typeface="Roboto Condensed"/>
              </a:rPr>
              <a:t>, </a:t>
            </a:r>
            <a:r>
              <a:rPr lang="ru-RU" sz="1420" dirty="0" err="1">
                <a:solidFill>
                  <a:srgbClr val="203353"/>
                </a:solidFill>
                <a:latin typeface="Roboto Condensed"/>
              </a:rPr>
              <a:t>OpenCV</a:t>
            </a:r>
            <a:r>
              <a:rPr lang="ru-RU" sz="1420" dirty="0">
                <a:solidFill>
                  <a:srgbClr val="203353"/>
                </a:solidFill>
                <a:latin typeface="Roboto Condensed"/>
              </a:rPr>
              <a:t>, </a:t>
            </a:r>
            <a:r>
              <a:rPr lang="ru-RU" sz="1420" dirty="0" err="1">
                <a:solidFill>
                  <a:srgbClr val="203353"/>
                </a:solidFill>
                <a:latin typeface="Roboto Condensed"/>
              </a:rPr>
              <a:t>PostgreSQL</a:t>
            </a:r>
            <a:endParaRPr lang="ru-RU" sz="1420" dirty="0">
              <a:solidFill>
                <a:srgbClr val="203353"/>
              </a:solidFill>
              <a:latin typeface="Roboto Condensed"/>
            </a:endParaRPr>
          </a:p>
        </p:txBody>
      </p:sp>
      <p:sp>
        <p:nvSpPr>
          <p:cNvPr id="10" name="Равнобедренный треугольник 9">
            <a:extLst>
              <a:ext uri="{FF2B5EF4-FFF2-40B4-BE49-F238E27FC236}">
                <a16:creationId xmlns:a16="http://schemas.microsoft.com/office/drawing/2014/main" id="{97006CA5-2A58-4A04-90BD-686026BD98B1}"/>
              </a:ext>
            </a:extLst>
          </p:cNvPr>
          <p:cNvSpPr/>
          <p:nvPr/>
        </p:nvSpPr>
        <p:spPr>
          <a:xfrm>
            <a:off x="1270000" y="32512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C9C0C-F460-4763-9A66-5133CC45EEAA}"/>
              </a:ext>
            </a:extLst>
          </p:cNvPr>
          <p:cNvSpPr txBox="1"/>
          <p:nvPr/>
        </p:nvSpPr>
        <p:spPr>
          <a:xfrm>
            <a:off x="1651000" y="3175000"/>
            <a:ext cx="67310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420" dirty="0">
                <a:solidFill>
                  <a:srgbClr val="203353"/>
                </a:solidFill>
                <a:latin typeface="Roboto Condensed"/>
              </a:rPr>
              <a:t>поддержать несколько камер, регистрацию пользователей и журнал событий</a:t>
            </a:r>
          </a:p>
        </p:txBody>
      </p:sp>
      <p:sp>
        <p:nvSpPr>
          <p:cNvPr id="12" name="Равнобедренный треугольник 11">
            <a:extLst>
              <a:ext uri="{FF2B5EF4-FFF2-40B4-BE49-F238E27FC236}">
                <a16:creationId xmlns:a16="http://schemas.microsoft.com/office/drawing/2014/main" id="{398841B9-D475-4B6F-A1EF-305577842F99}"/>
              </a:ext>
            </a:extLst>
          </p:cNvPr>
          <p:cNvSpPr/>
          <p:nvPr/>
        </p:nvSpPr>
        <p:spPr>
          <a:xfrm>
            <a:off x="1270000" y="36576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DB646-78F6-4027-A06D-E29566CB00D8}"/>
              </a:ext>
            </a:extLst>
          </p:cNvPr>
          <p:cNvSpPr txBox="1"/>
          <p:nvPr/>
        </p:nvSpPr>
        <p:spPr>
          <a:xfrm>
            <a:off x="1651000" y="3581400"/>
            <a:ext cx="67310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420" dirty="0">
                <a:solidFill>
                  <a:srgbClr val="203353"/>
                </a:solidFill>
                <a:latin typeface="Roboto Condensed"/>
              </a:rPr>
              <a:t>проверить работу стенда и описать перспективу интеграции с «Бастион-2»</a:t>
            </a:r>
          </a:p>
        </p:txBody>
      </p:sp>
    </p:spTree>
    <p:extLst>
      <p:ext uri="{BB962C8B-B14F-4D97-AF65-F5344CB8AC3E}">
        <p14:creationId xmlns:p14="http://schemas.microsoft.com/office/powerpoint/2010/main" val="7016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r>
              <a:rPr lang="ru-RU" sz="1700"/>
              <a:t>Актуальность и постановка проблемы</a:t>
            </a:r>
            <a:endParaRPr lang="ru-RU" sz="1700"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4</a:t>
            </a:r>
            <a:endParaRPr sz="800" b="0"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2B2876-55AF-467A-BF4A-45885F79EAE2}"/>
              </a:ext>
            </a:extLst>
          </p:cNvPr>
          <p:cNvSpPr/>
          <p:nvPr/>
        </p:nvSpPr>
        <p:spPr>
          <a:xfrm>
            <a:off x="889000" y="1651000"/>
            <a:ext cx="2286000" cy="9906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b="1">
                <a:solidFill>
                  <a:srgbClr val="203353"/>
                </a:solidFill>
                <a:latin typeface="Roboto Condensed"/>
              </a:rPr>
              <a:t>Проблема пропускного режима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88861D-BA60-473A-822A-B5BDF539275A}"/>
              </a:ext>
            </a:extLst>
          </p:cNvPr>
          <p:cNvSpPr/>
          <p:nvPr/>
        </p:nvSpPr>
        <p:spPr>
          <a:xfrm>
            <a:off x="889000" y="273050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sz="1300" dirty="0">
                <a:solidFill>
                  <a:srgbClr val="203353"/>
                </a:solidFill>
                <a:latin typeface="Roboto Condensed"/>
              </a:rPr>
              <a:t>карты и брелоки можно передать, потерять или забыть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328D79-9808-415E-830B-271A5E28ED96}"/>
              </a:ext>
            </a:extLst>
          </p:cNvPr>
          <p:cNvSpPr/>
          <p:nvPr/>
        </p:nvSpPr>
        <p:spPr>
          <a:xfrm>
            <a:off x="3556000" y="1651000"/>
            <a:ext cx="2286000" cy="9906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b="1">
                <a:solidFill>
                  <a:srgbClr val="203353"/>
                </a:solidFill>
                <a:latin typeface="Roboto Condensed"/>
              </a:rPr>
              <a:t>Идея решения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038DBA-9AAF-46F2-9764-A9436BEAA593}"/>
              </a:ext>
            </a:extLst>
          </p:cNvPr>
          <p:cNvSpPr/>
          <p:nvPr/>
        </p:nvSpPr>
        <p:spPr>
          <a:xfrm>
            <a:off x="3556000" y="273050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sz="1300" dirty="0">
                <a:solidFill>
                  <a:srgbClr val="203353"/>
                </a:solidFill>
                <a:latin typeface="Roboto Condensed"/>
              </a:rPr>
              <a:t>идентификация по лицу на базе уже существующих видеокамер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135FCC-A488-48B1-BC20-F5D7DD508AA0}"/>
              </a:ext>
            </a:extLst>
          </p:cNvPr>
          <p:cNvSpPr/>
          <p:nvPr/>
        </p:nvSpPr>
        <p:spPr>
          <a:xfrm>
            <a:off x="6223000" y="1651000"/>
            <a:ext cx="2286000" cy="9906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b="1">
                <a:solidFill>
                  <a:srgbClr val="203353"/>
                </a:solidFill>
                <a:latin typeface="Roboto Condensed"/>
              </a:rPr>
              <a:t>Инженерная сложность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B77C916-E9C8-4E6D-BB60-B5224003F634}"/>
              </a:ext>
            </a:extLst>
          </p:cNvPr>
          <p:cNvSpPr/>
          <p:nvPr/>
        </p:nvSpPr>
        <p:spPr>
          <a:xfrm>
            <a:off x="6223000" y="273050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sz="1300" dirty="0" err="1">
                <a:solidFill>
                  <a:srgbClr val="203353"/>
                </a:solidFill>
                <a:latin typeface="Roboto Condensed"/>
              </a:rPr>
              <a:t>многокамерность</a:t>
            </a:r>
            <a:r>
              <a:rPr lang="ru-RU" sz="1300" dirty="0">
                <a:solidFill>
                  <a:srgbClr val="203353"/>
                </a:solidFill>
                <a:latin typeface="Roboto Condensed"/>
              </a:rPr>
              <a:t>, пороги, журнал, БД, интерфейс оператора</a:t>
            </a:r>
          </a:p>
        </p:txBody>
      </p:sp>
    </p:spTree>
    <p:extLst>
      <p:ext uri="{BB962C8B-B14F-4D97-AF65-F5344CB8AC3E}">
        <p14:creationId xmlns:p14="http://schemas.microsoft.com/office/powerpoint/2010/main" val="134957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Анализ подходов к идентификации</a:t>
            </a:r>
            <a:endParaRPr sz="1700"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5</a:t>
            </a:r>
            <a:endParaRPr sz="800" b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9AEF6E4-83B6-4A47-AD72-A5674C9C1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46120"/>
              </p:ext>
            </p:extLst>
          </p:nvPr>
        </p:nvGraphicFramePr>
        <p:xfrm>
          <a:off x="635000" y="1498600"/>
          <a:ext cx="7825432" cy="1950720"/>
        </p:xfrm>
        <a:graphic>
          <a:graphicData uri="http://schemas.openxmlformats.org/drawingml/2006/table">
            <a:tbl>
              <a:tblPr firstRow="1" bandRow="1">
                <a:tableStyleId>{25CE2665-CDE5-4DEE-A53D-BA796C76628F}</a:tableStyleId>
              </a:tblPr>
              <a:tblGrid>
                <a:gridCol w="2624667">
                  <a:extLst>
                    <a:ext uri="{9D8B030D-6E8A-4147-A177-3AD203B41FA5}">
                      <a16:colId xmlns:a16="http://schemas.microsoft.com/office/drawing/2014/main" val="1362459200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1186653149"/>
                    </a:ext>
                  </a:extLst>
                </a:gridCol>
                <a:gridCol w="2576098">
                  <a:extLst>
                    <a:ext uri="{9D8B030D-6E8A-4147-A177-3AD203B41FA5}">
                      <a16:colId xmlns:a16="http://schemas.microsoft.com/office/drawing/2014/main" val="59563331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Roboto Condensed"/>
                        </a:rPr>
                        <a:t>Подход</a:t>
                      </a:r>
                    </a:p>
                  </a:txBody>
                  <a:tcPr marL="38100" marR="38100" marT="25400" marB="25400">
                    <a:solidFill>
                      <a:srgbClr val="2033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>
                          <a:solidFill>
                            <a:srgbClr val="FFFFFF"/>
                          </a:solidFill>
                          <a:latin typeface="Roboto Condensed"/>
                        </a:rPr>
                        <a:t>Плюсы</a:t>
                      </a:r>
                    </a:p>
                  </a:txBody>
                  <a:tcPr marL="38100" marR="38100" marT="25400" marB="25400">
                    <a:solidFill>
                      <a:srgbClr val="2033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>
                          <a:solidFill>
                            <a:srgbClr val="FFFFFF"/>
                          </a:solidFill>
                          <a:latin typeface="Roboto Condensed"/>
                        </a:rPr>
                        <a:t>Ограничения</a:t>
                      </a:r>
                    </a:p>
                  </a:txBody>
                  <a:tcPr marL="38100" marR="38100" marT="25400" marB="25400">
                    <a:solidFill>
                      <a:srgbClr val="2033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8112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Карта / брелок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дешево, быстро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можно передать другому лицу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096278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Отпечаток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хорошая точность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контактность и санитарные ограничения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36949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Распознавание лица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b="0">
                          <a:solidFill>
                            <a:srgbClr val="203353"/>
                          </a:solidFill>
                          <a:latin typeface="Roboto Condensed"/>
                        </a:rPr>
                        <a:t>бесконтактно, совместимо с камерами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b="0" dirty="0">
                          <a:solidFill>
                            <a:srgbClr val="203353"/>
                          </a:solidFill>
                          <a:latin typeface="Roboto Condensed"/>
                        </a:rPr>
                        <a:t>зависит от кадра, света и ракурса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474780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D8793A-3D6D-4CD4-BA27-369CB5FA4611}"/>
              </a:ext>
            </a:extLst>
          </p:cNvPr>
          <p:cNvSpPr/>
          <p:nvPr/>
        </p:nvSpPr>
        <p:spPr>
          <a:xfrm>
            <a:off x="863600" y="4127500"/>
            <a:ext cx="7429500" cy="5334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r>
              <a:rPr lang="ru-RU" sz="1300" b="1" dirty="0">
                <a:solidFill>
                  <a:srgbClr val="203353"/>
                </a:solidFill>
                <a:latin typeface="Roboto Condensed"/>
              </a:rPr>
              <a:t>Для работы выбран сценарий распознавания лица: он использует существующее видеонаблюдение и не требует физического носителя.</a:t>
            </a:r>
          </a:p>
        </p:txBody>
      </p:sp>
    </p:spTree>
    <p:extLst>
      <p:ext uri="{BB962C8B-B14F-4D97-AF65-F5344CB8AC3E}">
        <p14:creationId xmlns:p14="http://schemas.microsoft.com/office/powerpoint/2010/main" val="238519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Поток обработки кадра и принятия решения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6</a:t>
            </a:r>
            <a:endParaRPr sz="8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B6604-48EE-44CC-951D-780749642747}"/>
              </a:ext>
            </a:extLst>
          </p:cNvPr>
          <p:cNvSpPr txBox="1"/>
          <p:nvPr/>
        </p:nvSpPr>
        <p:spPr>
          <a:xfrm>
            <a:off x="698500" y="4470400"/>
            <a:ext cx="5207000" cy="52322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900" dirty="0">
                <a:solidFill>
                  <a:srgbClr val="465265"/>
                </a:solidFill>
                <a:latin typeface="Roboto Condensed"/>
              </a:rPr>
              <a:t>Кадр проходит получение, предобработку, </a:t>
            </a:r>
            <a:r>
              <a:rPr lang="ru-RU" sz="900" dirty="0" err="1">
                <a:solidFill>
                  <a:srgbClr val="465265"/>
                </a:solidFill>
                <a:latin typeface="Roboto Condensed"/>
              </a:rPr>
              <a:t>детекцию</a:t>
            </a:r>
            <a:r>
              <a:rPr lang="ru-RU" sz="900" dirty="0">
                <a:solidFill>
                  <a:srgbClr val="465265"/>
                </a:solidFill>
                <a:latin typeface="Roboto Condensed"/>
              </a:rPr>
              <a:t>, признаки, сравнение, решение и запись события.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0B2C7E6-C992-4D5D-A2FA-88C8F5DB0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47614"/>
            <a:ext cx="6271902" cy="312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0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Сценарии применения и контур внедрения</a:t>
            </a:r>
            <a:endParaRPr sz="17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E976A3-A660-4BDC-A957-10BFAB42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347614"/>
            <a:ext cx="5760640" cy="32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18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r>
              <a:rPr lang="ru-RU" sz="1700"/>
              <a:t>Сравнение архитектур детектирования лица</a:t>
            </a:r>
            <a:endParaRPr lang="ru-RU" sz="1700"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8</a:t>
            </a:r>
            <a:endParaRPr sz="800" b="0"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D774B81-2995-4389-B12E-B8BA392F586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3E00D8-38E8-4291-A7F4-94497D479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0F9014-12CF-4506-AFCA-FDC90C80D41B}"/>
              </a:ext>
            </a:extLst>
          </p:cNvPr>
          <p:cNvSpPr/>
          <p:nvPr/>
        </p:nvSpPr>
        <p:spPr>
          <a:xfrm>
            <a:off x="889000" y="1587500"/>
            <a:ext cx="2540000" cy="8890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b="1">
                <a:solidFill>
                  <a:srgbClr val="203353"/>
                </a:solidFill>
                <a:latin typeface="Roboto Condensed"/>
              </a:rPr>
              <a:t>Что сравнивалось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F45B6-E769-42CF-A894-5C763AD97C9F}"/>
              </a:ext>
            </a:extLst>
          </p:cNvPr>
          <p:cNvSpPr txBox="1"/>
          <p:nvPr/>
        </p:nvSpPr>
        <p:spPr>
          <a:xfrm>
            <a:off x="914400" y="2603500"/>
            <a:ext cx="2921000" cy="14224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dirty="0">
                <a:solidFill>
                  <a:srgbClr val="203353"/>
                </a:solidFill>
                <a:latin typeface="Roboto Condensed"/>
              </a:rPr>
              <a:t>SSD-ResNet-10 и YOLOv8n как распространённые одноэтапные детекторы.</a:t>
            </a:r>
          </a:p>
          <a:p>
            <a:r>
              <a:rPr lang="ru-RU" dirty="0">
                <a:solidFill>
                  <a:srgbClr val="203353"/>
                </a:solidFill>
                <a:latin typeface="Roboto Condensed"/>
              </a:rPr>
              <a:t>Оценка: время обработки, устойчивость к маске, повороту лица и ложным срабатываниям.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4694406-85EA-49D3-9D08-47D02394E51E}"/>
              </a:ext>
            </a:extLst>
          </p:cNvPr>
          <p:cNvSpPr/>
          <p:nvPr/>
        </p:nvSpPr>
        <p:spPr>
          <a:xfrm>
            <a:off x="4953000" y="1587500"/>
            <a:ext cx="2540000" cy="8890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b="1">
                <a:solidFill>
                  <a:srgbClr val="203353"/>
                </a:solidFill>
                <a:latin typeface="Roboto Condensed"/>
              </a:rPr>
              <a:t>Критерий выбора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D6D5B-8A02-499E-9478-C364D2468C27}"/>
              </a:ext>
            </a:extLst>
          </p:cNvPr>
          <p:cNvSpPr txBox="1"/>
          <p:nvPr/>
        </p:nvSpPr>
        <p:spPr>
          <a:xfrm>
            <a:off x="4978400" y="2603500"/>
            <a:ext cx="2921000" cy="9541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dirty="0">
                <a:solidFill>
                  <a:srgbClr val="203353"/>
                </a:solidFill>
                <a:latin typeface="Roboto Condensed"/>
              </a:rPr>
              <a:t>Для демонстрационного стенда важнее стабильность и скорость на CPU, чем максимальная точность тяжёлой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341759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Временные показатели детекторов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10</a:t>
            </a:r>
            <a:endParaRPr sz="800" b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CF4EEF-EDBF-4D4B-A1B9-302BF5EAC9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00" y="1443915"/>
            <a:ext cx="5143500" cy="2242969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AD6D6AE-14A8-4D9E-AD39-F4B154A43CBA}"/>
              </a:ext>
            </a:extLst>
          </p:cNvPr>
          <p:cNvSpPr/>
          <p:nvPr/>
        </p:nvSpPr>
        <p:spPr>
          <a:xfrm>
            <a:off x="825500" y="1651000"/>
            <a:ext cx="1651000" cy="9398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248C4-65C2-47DC-8848-B3C82835BCDA}"/>
              </a:ext>
            </a:extLst>
          </p:cNvPr>
          <p:cNvSpPr txBox="1"/>
          <p:nvPr/>
        </p:nvSpPr>
        <p:spPr>
          <a:xfrm>
            <a:off x="876300" y="1727200"/>
            <a:ext cx="15494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sz="2400" b="1">
                <a:solidFill>
                  <a:srgbClr val="EC8400"/>
                </a:solidFill>
                <a:latin typeface="Roboto Condensed"/>
              </a:rPr>
              <a:t>2,4x</a:t>
            </a:r>
            <a:endParaRPr lang="ru-RU" sz="240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B3EC1-D898-41BF-BB0B-5E82A638F117}"/>
              </a:ext>
            </a:extLst>
          </p:cNvPr>
          <p:cNvSpPr txBox="1"/>
          <p:nvPr/>
        </p:nvSpPr>
        <p:spPr>
          <a:xfrm>
            <a:off x="921774" y="2062560"/>
            <a:ext cx="1498600" cy="9541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1050" b="1" dirty="0">
                <a:solidFill>
                  <a:srgbClr val="203353"/>
                </a:solidFill>
                <a:latin typeface="Roboto Condensed"/>
              </a:rPr>
              <a:t>SSD-R10 быстрее по выполнению нейросети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A316A4-D4A3-4002-A357-265B8F86C04B}"/>
              </a:ext>
            </a:extLst>
          </p:cNvPr>
          <p:cNvSpPr/>
          <p:nvPr/>
        </p:nvSpPr>
        <p:spPr>
          <a:xfrm>
            <a:off x="825500" y="2857500"/>
            <a:ext cx="1651000" cy="9398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8E55C-68CD-4A16-BDC1-535BC7EE85B4}"/>
              </a:ext>
            </a:extLst>
          </p:cNvPr>
          <p:cNvSpPr txBox="1"/>
          <p:nvPr/>
        </p:nvSpPr>
        <p:spPr>
          <a:xfrm>
            <a:off x="876300" y="2933700"/>
            <a:ext cx="15494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sz="2400" b="1">
                <a:solidFill>
                  <a:srgbClr val="EC8400"/>
                </a:solidFill>
                <a:latin typeface="Roboto Condensed"/>
              </a:rPr>
              <a:t>4,9 FPS</a:t>
            </a:r>
            <a:endParaRPr lang="ru-RU" sz="240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B82D1A-A6D4-4B55-A65D-38277FE6D02F}"/>
              </a:ext>
            </a:extLst>
          </p:cNvPr>
          <p:cNvSpPr txBox="1"/>
          <p:nvPr/>
        </p:nvSpPr>
        <p:spPr>
          <a:xfrm>
            <a:off x="901700" y="3340100"/>
            <a:ext cx="1498600" cy="73866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1050" b="1">
                <a:solidFill>
                  <a:srgbClr val="203353"/>
                </a:solidFill>
                <a:latin typeface="Roboto Condensed"/>
              </a:rPr>
              <a:t>оценочная скорость SSD-R10 на CPU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1A57579-4A2E-4BBF-BF11-1581418E67BB}"/>
              </a:ext>
            </a:extLst>
          </p:cNvPr>
          <p:cNvSpPr/>
          <p:nvPr/>
        </p:nvSpPr>
        <p:spPr>
          <a:xfrm>
            <a:off x="1835696" y="4064000"/>
            <a:ext cx="5143500" cy="6096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r>
              <a:rPr lang="ru-RU" sz="1300" b="1" dirty="0">
                <a:solidFill>
                  <a:srgbClr val="203353"/>
                </a:solidFill>
                <a:latin typeface="Roboto Condensed"/>
              </a:rPr>
              <a:t>Даже лучший CPU-вариант не достигает промышленных 25-30 FPS, поэтому GPU-ускорение остаётся направлением развития.</a:t>
            </a:r>
          </a:p>
        </p:txBody>
      </p:sp>
    </p:spTree>
    <p:extLst>
      <p:ext uri="{BB962C8B-B14F-4D97-AF65-F5344CB8AC3E}">
        <p14:creationId xmlns:p14="http://schemas.microsoft.com/office/powerpoint/2010/main" val="55156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Качественные показатели детекторов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11</a:t>
            </a:r>
            <a:endParaRPr sz="800" b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66F39A-F59B-4056-8D12-9813A394F38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1422400"/>
            <a:ext cx="5207000" cy="1905000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89CD5A-EAEE-49B1-A3D5-91A68A7B0334}"/>
              </a:ext>
            </a:extLst>
          </p:cNvPr>
          <p:cNvSpPr txBox="1"/>
          <p:nvPr/>
        </p:nvSpPr>
        <p:spPr>
          <a:xfrm>
            <a:off x="914400" y="1676400"/>
            <a:ext cx="1841500" cy="19558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550" b="1" dirty="0">
                <a:solidFill>
                  <a:srgbClr val="333333"/>
                </a:solidFill>
                <a:latin typeface="Arial" panose="020B0604020202020204" pitchFamily="34" charset="0"/>
              </a:rPr>
              <a:t>Ключевой вывод:</a:t>
            </a:r>
          </a:p>
          <a:p>
            <a:r>
              <a:rPr lang="ru-RU" sz="1550" b="1" dirty="0">
                <a:solidFill>
                  <a:srgbClr val="333333"/>
                </a:solidFill>
                <a:latin typeface="Arial" panose="020B0604020202020204" pitchFamily="34" charset="0"/>
              </a:rPr>
              <a:t>SSD-R10 лучше проходит маску и поворот лица.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BCE35F-94A6-446D-9097-1490AC6655D1}"/>
              </a:ext>
            </a:extLst>
          </p:cNvPr>
          <p:cNvSpPr/>
          <p:nvPr/>
        </p:nvSpPr>
        <p:spPr>
          <a:xfrm>
            <a:off x="755576" y="4659982"/>
            <a:ext cx="5791200" cy="3683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r>
              <a:rPr lang="ru-RU" sz="1120" b="1">
                <a:solidFill>
                  <a:srgbClr val="333333"/>
                </a:solidFill>
                <a:latin typeface="Arial" panose="020B0604020202020204" pitchFamily="34" charset="0"/>
              </a:rPr>
              <a:t>Ложное срабатывание фиксировалось на тестовом наборе из 8 фото в нецелевом сценарии, когда человек стоит спиной к камере.</a:t>
            </a:r>
          </a:p>
        </p:txBody>
      </p:sp>
      <p:sp>
        <p:nvSpPr>
          <p:cNvPr id="2" name="detector-test-caption">
            <a:extLst>
              <a:ext uri="{FF2B5EF4-FFF2-40B4-BE49-F238E27FC236}">
                <a16:creationId xmlns:a16="http://schemas.microsoft.com/office/drawing/2014/main" id="{A1E76D31-FD19-49C1-9D74-2560A5BC4BED}"/>
              </a:ext>
            </a:extLst>
          </p:cNvPr>
          <p:cNvSpPr txBox="1"/>
          <p:nvPr/>
        </p:nvSpPr>
        <p:spPr>
          <a:xfrm>
            <a:off x="7202576" y="3498790"/>
            <a:ext cx="1689904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000" b="1" dirty="0">
                <a:solidFill>
                  <a:srgbClr val="777777"/>
                </a:solidFill>
                <a:latin typeface="Arial" panose="020B0604020202020204" pitchFamily="34" charset="0"/>
              </a:rPr>
              <a:t>Примеры тестовых кадров детектора</a:t>
            </a:r>
          </a:p>
        </p:txBody>
      </p:sp>
      <p:pic>
        <p:nvPicPr>
          <p:cNvPr id="4" name="detector-test-photo-1">
            <a:extLst>
              <a:ext uri="{FF2B5EF4-FFF2-40B4-BE49-F238E27FC236}">
                <a16:creationId xmlns:a16="http://schemas.microsoft.com/office/drawing/2014/main" id="{CA2C5CE1-6714-4602-81C7-C49DE5FEE24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378200"/>
            <a:ext cx="800100" cy="1041400"/>
          </a:xfrm>
          <a:prstGeom prst="rect">
            <a:avLst/>
          </a:prstGeom>
        </p:spPr>
      </p:pic>
      <p:pic>
        <p:nvPicPr>
          <p:cNvPr id="9" name="detector-test-photo-2">
            <a:extLst>
              <a:ext uri="{FF2B5EF4-FFF2-40B4-BE49-F238E27FC236}">
                <a16:creationId xmlns:a16="http://schemas.microsoft.com/office/drawing/2014/main" id="{17CFEDB8-F711-4326-A147-DA90109E08C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102100" y="3378200"/>
            <a:ext cx="1041400" cy="1041400"/>
          </a:xfrm>
          <a:prstGeom prst="rect">
            <a:avLst/>
          </a:prstGeom>
        </p:spPr>
      </p:pic>
      <p:pic>
        <p:nvPicPr>
          <p:cNvPr id="11" name="detector-test-photo-3">
            <a:extLst>
              <a:ext uri="{FF2B5EF4-FFF2-40B4-BE49-F238E27FC236}">
                <a16:creationId xmlns:a16="http://schemas.microsoft.com/office/drawing/2014/main" id="{619FDB38-1C05-49E8-ABE9-2224ECEC240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245100" y="3378200"/>
            <a:ext cx="939800" cy="1041400"/>
          </a:xfrm>
          <a:prstGeom prst="rect">
            <a:avLst/>
          </a:prstGeom>
        </p:spPr>
      </p:pic>
      <p:pic>
        <p:nvPicPr>
          <p:cNvPr id="13" name="detector-test-photo-4">
            <a:extLst>
              <a:ext uri="{FF2B5EF4-FFF2-40B4-BE49-F238E27FC236}">
                <a16:creationId xmlns:a16="http://schemas.microsoft.com/office/drawing/2014/main" id="{A0C9F62D-3571-4960-BCB6-6E3E11DFC7C3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378200"/>
            <a:ext cx="8382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8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r>
              <a:rPr lang="ru-RU" sz="1700"/>
              <a:t>Анализ извлечения признаков лица</a:t>
            </a:r>
            <a:endParaRPr lang="ru-RU" sz="1700"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12</a:t>
            </a:r>
            <a:endParaRPr sz="800" b="0"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23BB5B86-D156-4B6C-94BC-8C086463DB1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F1F5D2-1218-44AF-94E2-8CD8DA5CF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71C55DE-F271-4506-BE25-46A431BB95CF}"/>
              </a:ext>
            </a:extLst>
          </p:cNvPr>
          <p:cNvSpPr/>
          <p:nvPr/>
        </p:nvSpPr>
        <p:spPr>
          <a:xfrm>
            <a:off x="889000" y="1587500"/>
            <a:ext cx="3111500" cy="7874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b="1">
                <a:solidFill>
                  <a:srgbClr val="203353"/>
                </a:solidFill>
                <a:latin typeface="Roboto Condensed"/>
              </a:rPr>
              <a:t>Проблема одного эталона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F4BFB-5F69-4CAC-94EB-00BDFB5E3AA1}"/>
              </a:ext>
            </a:extLst>
          </p:cNvPr>
          <p:cNvSpPr txBox="1"/>
          <p:nvPr/>
        </p:nvSpPr>
        <p:spPr>
          <a:xfrm>
            <a:off x="990600" y="2514600"/>
            <a:ext cx="3048000" cy="73866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350">
                <a:solidFill>
                  <a:srgbClr val="203353"/>
                </a:solidFill>
                <a:latin typeface="Roboto Condensed"/>
              </a:rPr>
              <a:t>один снимок сохраняет ракурс, освещение и артефакты конкретной фотографии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FCE331D-E46C-4BDD-95FD-E32EAC0FA6E4}"/>
              </a:ext>
            </a:extLst>
          </p:cNvPr>
          <p:cNvSpPr/>
          <p:nvPr/>
        </p:nvSpPr>
        <p:spPr>
          <a:xfrm>
            <a:off x="4826000" y="1587500"/>
            <a:ext cx="3111500" cy="7874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ru-RU" b="1">
                <a:solidFill>
                  <a:srgbClr val="203353"/>
                </a:solidFill>
                <a:latin typeface="Roboto Condensed"/>
              </a:rPr>
              <a:t>Решение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85339-9F38-433E-B77C-7AD24D9AE480}"/>
              </a:ext>
            </a:extLst>
          </p:cNvPr>
          <p:cNvSpPr txBox="1"/>
          <p:nvPr/>
        </p:nvSpPr>
        <p:spPr>
          <a:xfrm>
            <a:off x="4927600" y="2514600"/>
            <a:ext cx="3048000" cy="73866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350">
                <a:solidFill>
                  <a:srgbClr val="203353"/>
                </a:solidFill>
                <a:latin typeface="Roboto Condensed"/>
              </a:rPr>
              <a:t>усреднение 5 эталонных изображений формирует более устойчивый вектор признаков</a:t>
            </a:r>
          </a:p>
        </p:txBody>
      </p:sp>
      <p:pic>
        <p:nvPicPr>
          <p:cNvPr id="4" name="multi-etalon-photo-1">
            <a:extLst>
              <a:ext uri="{FF2B5EF4-FFF2-40B4-BE49-F238E27FC236}">
                <a16:creationId xmlns:a16="http://schemas.microsoft.com/office/drawing/2014/main" id="{8B8C3939-429F-44C0-8E2D-09B2ECDFE4D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200400"/>
            <a:ext cx="914400" cy="1066800"/>
          </a:xfrm>
          <a:prstGeom prst="rect">
            <a:avLst/>
          </a:prstGeom>
        </p:spPr>
      </p:pic>
      <p:pic>
        <p:nvPicPr>
          <p:cNvPr id="12" name="multi-etalon-photo-2">
            <a:extLst>
              <a:ext uri="{FF2B5EF4-FFF2-40B4-BE49-F238E27FC236}">
                <a16:creationId xmlns:a16="http://schemas.microsoft.com/office/drawing/2014/main" id="{C51A325C-3D57-4B93-BA37-DB26A757482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0" y="3200400"/>
            <a:ext cx="914400" cy="1066800"/>
          </a:xfrm>
          <a:prstGeom prst="rect">
            <a:avLst/>
          </a:prstGeom>
        </p:spPr>
      </p:pic>
      <p:pic>
        <p:nvPicPr>
          <p:cNvPr id="15" name="multi-etalon-photo-3">
            <a:extLst>
              <a:ext uri="{FF2B5EF4-FFF2-40B4-BE49-F238E27FC236}">
                <a16:creationId xmlns:a16="http://schemas.microsoft.com/office/drawing/2014/main" id="{314D7066-8C9D-4536-85F7-E0994819F5C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013200" y="3200400"/>
            <a:ext cx="914400" cy="1066800"/>
          </a:xfrm>
          <a:prstGeom prst="rect">
            <a:avLst/>
          </a:prstGeom>
        </p:spPr>
      </p:pic>
      <p:pic>
        <p:nvPicPr>
          <p:cNvPr id="17" name="multi-etalon-photo-4">
            <a:extLst>
              <a:ext uri="{FF2B5EF4-FFF2-40B4-BE49-F238E27FC236}">
                <a16:creationId xmlns:a16="http://schemas.microsoft.com/office/drawing/2014/main" id="{D4B94154-CF11-4027-A8CE-8A80245E388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3200400"/>
            <a:ext cx="914400" cy="1066800"/>
          </a:xfrm>
          <a:prstGeom prst="rect">
            <a:avLst/>
          </a:prstGeom>
        </p:spPr>
      </p:pic>
      <p:pic>
        <p:nvPicPr>
          <p:cNvPr id="21" name="multi-etalon-photo-5">
            <a:extLst>
              <a:ext uri="{FF2B5EF4-FFF2-40B4-BE49-F238E27FC236}">
                <a16:creationId xmlns:a16="http://schemas.microsoft.com/office/drawing/2014/main" id="{45680FA7-B17C-4E11-83A9-CE0FE187F04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807200" y="3200400"/>
            <a:ext cx="914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55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Архитектура программного комплекса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13</a:t>
            </a:r>
            <a:endParaRPr sz="800" b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A91BA1-B348-4310-9C49-EF85D06B1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ECD34B-BA48-45C2-B6AB-D52D7A82456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32659" y="1422400"/>
            <a:ext cx="6669181" cy="2667000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9C1AF6-07BE-4823-9F93-37F615508FBC}"/>
              </a:ext>
            </a:extLst>
          </p:cNvPr>
          <p:cNvSpPr/>
          <p:nvPr/>
        </p:nvSpPr>
        <p:spPr>
          <a:xfrm>
            <a:off x="1016000" y="4191000"/>
            <a:ext cx="7112000" cy="4826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r>
              <a:rPr lang="ru-RU" sz="1300" b="1">
                <a:solidFill>
                  <a:srgbClr val="203353"/>
                </a:solidFill>
                <a:latin typeface="Roboto Condensed"/>
              </a:rPr>
              <a:t>Модули разделены по ответственности: интерфейс, видеопоток, распознавание, хранилище и файловые снимки.</a:t>
            </a:r>
          </a:p>
        </p:txBody>
      </p:sp>
    </p:spTree>
    <p:extLst>
      <p:ext uri="{BB962C8B-B14F-4D97-AF65-F5344CB8AC3E}">
        <p14:creationId xmlns:p14="http://schemas.microsoft.com/office/powerpoint/2010/main" val="1883606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Модель данных: </a:t>
            </a:r>
            <a:r>
              <a:rPr lang="en-US" sz="1700"/>
              <a:t>PostgreSQL + pgvector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15</a:t>
            </a:r>
            <a:endParaRPr sz="800" b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4FD065-11F5-48CF-B618-C39E71E2533C}"/>
              </a:ext>
            </a:extLst>
          </p:cNvPr>
          <p:cNvSpPr/>
          <p:nvPr/>
        </p:nvSpPr>
        <p:spPr>
          <a:xfrm>
            <a:off x="698500" y="1422400"/>
            <a:ext cx="2286000" cy="6096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F9352-F012-40FA-A644-22C26FDA1147}"/>
              </a:ext>
            </a:extLst>
          </p:cNvPr>
          <p:cNvSpPr txBox="1"/>
          <p:nvPr/>
        </p:nvSpPr>
        <p:spPr>
          <a:xfrm>
            <a:off x="774700" y="1473200"/>
            <a:ext cx="21336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person_profiles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57942-CE69-4685-B156-215D546A174A}"/>
              </a:ext>
            </a:extLst>
          </p:cNvPr>
          <p:cNvSpPr txBox="1"/>
          <p:nvPr/>
        </p:nvSpPr>
        <p:spPr>
          <a:xfrm>
            <a:off x="774700" y="1714500"/>
            <a:ext cx="2133600" cy="73866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>
                <a:solidFill>
                  <a:srgbClr val="203353"/>
                </a:solidFill>
                <a:latin typeface="Roboto Condensed"/>
              </a:rPr>
              <a:t>карточка человека: ФИО, роль, отдел, уровень доступа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DADC94-6352-4084-AD9B-FBB1620CEC7D}"/>
              </a:ext>
            </a:extLst>
          </p:cNvPr>
          <p:cNvSpPr/>
          <p:nvPr/>
        </p:nvSpPr>
        <p:spPr>
          <a:xfrm>
            <a:off x="698500" y="2108200"/>
            <a:ext cx="2286000" cy="6858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3BD29-DCB1-42CC-ABC4-885106232B62}"/>
              </a:ext>
            </a:extLst>
          </p:cNvPr>
          <p:cNvSpPr txBox="1"/>
          <p:nvPr/>
        </p:nvSpPr>
        <p:spPr>
          <a:xfrm>
            <a:off x="774700" y="2159000"/>
            <a:ext cx="21336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face_embeddings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D49E3-B149-4336-9C7D-5B9573D6A8F9}"/>
              </a:ext>
            </a:extLst>
          </p:cNvPr>
          <p:cNvSpPr txBox="1"/>
          <p:nvPr/>
        </p:nvSpPr>
        <p:spPr>
          <a:xfrm>
            <a:off x="774700" y="2400300"/>
            <a:ext cx="2133600" cy="95410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>
                <a:solidFill>
                  <a:srgbClr val="203353"/>
                </a:solidFill>
                <a:latin typeface="Roboto Condensed"/>
              </a:rPr>
              <a:t>вектор лица и связь с профилем; используется для сравнения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E6ADF63-DDE8-484E-8BB9-45A2704B2CE8}"/>
              </a:ext>
            </a:extLst>
          </p:cNvPr>
          <p:cNvSpPr/>
          <p:nvPr/>
        </p:nvSpPr>
        <p:spPr>
          <a:xfrm>
            <a:off x="698500" y="2870200"/>
            <a:ext cx="2286000" cy="6858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C15888-8AC3-4E88-84FC-6889A0DA6D19}"/>
              </a:ext>
            </a:extLst>
          </p:cNvPr>
          <p:cNvSpPr txBox="1"/>
          <p:nvPr/>
        </p:nvSpPr>
        <p:spPr>
          <a:xfrm>
            <a:off x="774700" y="2921000"/>
            <a:ext cx="21336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recognition_events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CFA44A-7246-40C5-ACF2-1C9C83C2324E}"/>
              </a:ext>
            </a:extLst>
          </p:cNvPr>
          <p:cNvSpPr txBox="1"/>
          <p:nvPr/>
        </p:nvSpPr>
        <p:spPr>
          <a:xfrm>
            <a:off x="774700" y="3162300"/>
            <a:ext cx="2133600" cy="73866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>
                <a:solidFill>
                  <a:srgbClr val="203353"/>
                </a:solidFill>
                <a:latin typeface="Roboto Condensed"/>
              </a:rPr>
              <a:t>журнал: камера, время, сходство, решение, сообщение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1374DFD-53B2-4C49-978C-E9469FE3DC1A}"/>
              </a:ext>
            </a:extLst>
          </p:cNvPr>
          <p:cNvSpPr/>
          <p:nvPr/>
        </p:nvSpPr>
        <p:spPr>
          <a:xfrm>
            <a:off x="698500" y="3632200"/>
            <a:ext cx="2286000" cy="6858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F39BAD-05DC-4934-979C-185370EF3695}"/>
              </a:ext>
            </a:extLst>
          </p:cNvPr>
          <p:cNvSpPr txBox="1"/>
          <p:nvPr/>
        </p:nvSpPr>
        <p:spPr>
          <a:xfrm>
            <a:off x="774700" y="3683000"/>
            <a:ext cx="21336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camera_sources / snapshots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861C8A-F2A1-401B-85E3-2AB11B42141A}"/>
              </a:ext>
            </a:extLst>
          </p:cNvPr>
          <p:cNvSpPr txBox="1"/>
          <p:nvPr/>
        </p:nvSpPr>
        <p:spPr>
          <a:xfrm>
            <a:off x="774700" y="3924300"/>
            <a:ext cx="2133600" cy="95410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>
                <a:solidFill>
                  <a:srgbClr val="203353"/>
                </a:solidFill>
                <a:latin typeface="Roboto Condensed"/>
              </a:rPr>
              <a:t>источники видео и файлы снимков для подтверждения события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24D03F8-65E5-4A3A-AF09-F6C163A1D283}"/>
              </a:ext>
            </a:extLst>
          </p:cNvPr>
          <p:cNvSpPr/>
          <p:nvPr/>
        </p:nvSpPr>
        <p:spPr>
          <a:xfrm>
            <a:off x="1403648" y="4458825"/>
            <a:ext cx="5143500" cy="5842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>
            <a:noAutofit/>
          </a:bodyPr>
          <a:lstStyle/>
          <a:p>
            <a:r>
              <a:rPr lang="ru-RU" sz="1150" b="1">
                <a:solidFill>
                  <a:srgbClr val="203353"/>
                </a:solidFill>
                <a:latin typeface="Roboto Condensed"/>
              </a:rPr>
              <a:t>Цель модели данных: связать профиль, биометрический вектор, камеру и событие, чтобы система могла искать совпадение и сохранять историю распознавания.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3E77CB-10FD-480A-A31F-476BA83B2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446595"/>
            <a:ext cx="4752528" cy="286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Диаграмма классов программного комплекса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16</a:t>
            </a:r>
            <a:endParaRPr sz="800" b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7DD816-8231-407F-B338-DC8E6CE51AE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52251" y="1371600"/>
            <a:ext cx="4287498" cy="2413000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918743-F902-4A3D-BB73-9D6852469A80}"/>
              </a:ext>
            </a:extLst>
          </p:cNvPr>
          <p:cNvSpPr/>
          <p:nvPr/>
        </p:nvSpPr>
        <p:spPr>
          <a:xfrm>
            <a:off x="609600" y="1422400"/>
            <a:ext cx="2730500" cy="5461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8484D-CA0E-4B63-95F2-3399FF5A66EB}"/>
              </a:ext>
            </a:extLst>
          </p:cNvPr>
          <p:cNvSpPr txBox="1"/>
          <p:nvPr/>
        </p:nvSpPr>
        <p:spPr>
          <a:xfrm>
            <a:off x="685800" y="1473200"/>
            <a:ext cx="25781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MainWindow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34145-4605-4269-B1B9-CB82374A86F1}"/>
              </a:ext>
            </a:extLst>
          </p:cNvPr>
          <p:cNvSpPr txBox="1"/>
          <p:nvPr/>
        </p:nvSpPr>
        <p:spPr>
          <a:xfrm>
            <a:off x="711484" y="1624568"/>
            <a:ext cx="25781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>
                <a:solidFill>
                  <a:srgbClr val="203353"/>
                </a:solidFill>
                <a:latin typeface="Roboto Condensed"/>
              </a:rPr>
              <a:t>экран оператора: команды, статус, видеопанели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801F914-4CBC-4232-BE65-FBFE6AE22897}"/>
              </a:ext>
            </a:extLst>
          </p:cNvPr>
          <p:cNvSpPr/>
          <p:nvPr/>
        </p:nvSpPr>
        <p:spPr>
          <a:xfrm>
            <a:off x="609600" y="2032000"/>
            <a:ext cx="2730500" cy="6096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9B3449-B1FC-4F09-A427-02F98294AD0E}"/>
              </a:ext>
            </a:extLst>
          </p:cNvPr>
          <p:cNvSpPr txBox="1"/>
          <p:nvPr/>
        </p:nvSpPr>
        <p:spPr>
          <a:xfrm>
            <a:off x="685800" y="2082800"/>
            <a:ext cx="25781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SurveillanceService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6C081E-6FAD-4DFB-BB4C-F6CB077EE28E}"/>
              </a:ext>
            </a:extLst>
          </p:cNvPr>
          <p:cNvSpPr txBox="1"/>
          <p:nvPr/>
        </p:nvSpPr>
        <p:spPr>
          <a:xfrm>
            <a:off x="711484" y="2234168"/>
            <a:ext cx="2578100" cy="73866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>
                <a:solidFill>
                  <a:srgbClr val="203353"/>
                </a:solidFill>
                <a:latin typeface="Roboto Condensed"/>
              </a:rPr>
              <a:t>связывает камеры, распознавание и сохранение событий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0C99787-BCFF-4D49-B1D2-1B673BFA6A01}"/>
              </a:ext>
            </a:extLst>
          </p:cNvPr>
          <p:cNvSpPr/>
          <p:nvPr/>
        </p:nvSpPr>
        <p:spPr>
          <a:xfrm>
            <a:off x="609600" y="2717800"/>
            <a:ext cx="2730500" cy="5842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254BD3-9D0C-41F3-9E23-35B13311DBA2}"/>
              </a:ext>
            </a:extLst>
          </p:cNvPr>
          <p:cNvSpPr txBox="1"/>
          <p:nvPr/>
        </p:nvSpPr>
        <p:spPr>
          <a:xfrm>
            <a:off x="685800" y="2768600"/>
            <a:ext cx="25781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VideoSourceWorker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86D4F0-C67B-4AAB-BDF0-F707A030B381}"/>
              </a:ext>
            </a:extLst>
          </p:cNvPr>
          <p:cNvSpPr txBox="1"/>
          <p:nvPr/>
        </p:nvSpPr>
        <p:spPr>
          <a:xfrm>
            <a:off x="711484" y="2919968"/>
            <a:ext cx="25781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>
                <a:solidFill>
                  <a:srgbClr val="203353"/>
                </a:solidFill>
                <a:latin typeface="Roboto Condensed"/>
              </a:rPr>
              <a:t>хранит источник камеры и отдаёт кадры в обработку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4E39B51-5B52-44FB-BFEA-339789B899BD}"/>
              </a:ext>
            </a:extLst>
          </p:cNvPr>
          <p:cNvSpPr/>
          <p:nvPr/>
        </p:nvSpPr>
        <p:spPr>
          <a:xfrm>
            <a:off x="609600" y="3378200"/>
            <a:ext cx="2730500" cy="5842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6D8526-3418-4E70-8324-0E86200CCC6D}"/>
              </a:ext>
            </a:extLst>
          </p:cNvPr>
          <p:cNvSpPr txBox="1"/>
          <p:nvPr/>
        </p:nvSpPr>
        <p:spPr>
          <a:xfrm>
            <a:off x="685800" y="3429000"/>
            <a:ext cx="25781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SimpleFaceRecognizer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A32B7F-5155-40B8-B316-43EAE06E3DA2}"/>
              </a:ext>
            </a:extLst>
          </p:cNvPr>
          <p:cNvSpPr txBox="1"/>
          <p:nvPr/>
        </p:nvSpPr>
        <p:spPr>
          <a:xfrm>
            <a:off x="711484" y="3580368"/>
            <a:ext cx="25781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 dirty="0" err="1">
                <a:solidFill>
                  <a:srgbClr val="203353"/>
                </a:solidFill>
                <a:latin typeface="Roboto Condensed"/>
              </a:rPr>
              <a:t>детекция</a:t>
            </a:r>
            <a:r>
              <a:rPr lang="ru-RU" sz="980" dirty="0">
                <a:solidFill>
                  <a:srgbClr val="203353"/>
                </a:solidFill>
                <a:latin typeface="Roboto Condensed"/>
              </a:rPr>
              <a:t> лица, </a:t>
            </a:r>
            <a:r>
              <a:rPr lang="ru-RU" sz="980" dirty="0" err="1">
                <a:solidFill>
                  <a:srgbClr val="203353"/>
                </a:solidFill>
                <a:latin typeface="Roboto Condensed"/>
              </a:rPr>
              <a:t>эмбеддинг</a:t>
            </a:r>
            <a:r>
              <a:rPr lang="ru-RU" sz="980" dirty="0">
                <a:solidFill>
                  <a:srgbClr val="203353"/>
                </a:solidFill>
                <a:latin typeface="Roboto Condensed"/>
              </a:rPr>
              <a:t> и сравнение с порогом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EDCDC9F-37EE-4649-A7B0-7AD67E2DDE2C}"/>
              </a:ext>
            </a:extLst>
          </p:cNvPr>
          <p:cNvSpPr/>
          <p:nvPr/>
        </p:nvSpPr>
        <p:spPr>
          <a:xfrm>
            <a:off x="3810000" y="3886200"/>
            <a:ext cx="4572000" cy="6350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C92846-6E0D-4554-9E2A-534E4FDA8331}"/>
              </a:ext>
            </a:extLst>
          </p:cNvPr>
          <p:cNvSpPr txBox="1"/>
          <p:nvPr/>
        </p:nvSpPr>
        <p:spPr>
          <a:xfrm>
            <a:off x="3886200" y="3937000"/>
            <a:ext cx="44196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en-US" sz="1120" b="1">
                <a:solidFill>
                  <a:srgbClr val="EC8400"/>
                </a:solidFill>
                <a:latin typeface="Roboto Condensed"/>
              </a:rPr>
              <a:t>FaceEnrollmentService / PgRepository</a:t>
            </a:r>
            <a:endParaRPr lang="ru-RU" sz="112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37A34D-296D-4ABA-A54B-94CC058715F8}"/>
              </a:ext>
            </a:extLst>
          </p:cNvPr>
          <p:cNvSpPr txBox="1"/>
          <p:nvPr/>
        </p:nvSpPr>
        <p:spPr>
          <a:xfrm>
            <a:off x="3886200" y="4093730"/>
            <a:ext cx="44196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980" dirty="0">
                <a:solidFill>
                  <a:srgbClr val="203353"/>
                </a:solidFill>
                <a:latin typeface="Roboto Condensed"/>
              </a:rPr>
              <a:t>регистрация лица; </a:t>
            </a:r>
            <a:r>
              <a:rPr lang="ru-RU" sz="980" dirty="0" err="1">
                <a:solidFill>
                  <a:srgbClr val="203353"/>
                </a:solidFill>
                <a:latin typeface="Roboto Condensed"/>
              </a:rPr>
              <a:t>PgRepository</a:t>
            </a:r>
            <a:r>
              <a:rPr lang="ru-RU" sz="980" dirty="0">
                <a:solidFill>
                  <a:srgbClr val="203353"/>
                </a:solidFill>
                <a:latin typeface="Roboto Condensed"/>
              </a:rPr>
              <a:t> хранит профили, события и выполняет поиск ближайшего вектора</a:t>
            </a:r>
          </a:p>
        </p:txBody>
      </p:sp>
    </p:spTree>
    <p:extLst>
      <p:ext uri="{BB962C8B-B14F-4D97-AF65-F5344CB8AC3E}">
        <p14:creationId xmlns:p14="http://schemas.microsoft.com/office/powerpoint/2010/main" val="307235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-US" sz="1700"/>
              <a:t>IDEF0: </a:t>
            </a:r>
            <a:r>
              <a:rPr lang="ru-RU" sz="1700"/>
              <a:t>контекст системы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17</a:t>
            </a:r>
            <a:endParaRPr sz="800" b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CC92D2-F3BE-46BB-93C3-52C5AC88445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419622"/>
            <a:ext cx="5190862" cy="2857500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</p:spTree>
    <p:extLst>
      <p:ext uri="{BB962C8B-B14F-4D97-AF65-F5344CB8AC3E}">
        <p14:creationId xmlns:p14="http://schemas.microsoft.com/office/powerpoint/2010/main" val="985623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Взаимодействие с камерами, оператором и будущей СКУД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19</a:t>
            </a:r>
            <a:endParaRPr sz="800" b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E0B518-C719-4AE0-8550-625C97948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44DCDC-00B2-4E84-AEA9-2515F2C749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401500"/>
            <a:ext cx="5325524" cy="2997200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</p:spTree>
    <p:extLst>
      <p:ext uri="{BB962C8B-B14F-4D97-AF65-F5344CB8AC3E}">
        <p14:creationId xmlns:p14="http://schemas.microsoft.com/office/powerpoint/2010/main" val="150869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Технологический стек реализации</a:t>
            </a:r>
            <a:endParaRPr sz="1700"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20</a:t>
            </a:r>
            <a:endParaRPr sz="800" b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01B3619-0C8A-427A-9AE4-35CFC1CFA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222377"/>
              </p:ext>
            </p:extLst>
          </p:nvPr>
        </p:nvGraphicFramePr>
        <p:xfrm>
          <a:off x="635000" y="1397000"/>
          <a:ext cx="7874001" cy="2870203"/>
        </p:xfrm>
        <a:graphic>
          <a:graphicData uri="http://schemas.openxmlformats.org/drawingml/2006/table">
            <a:tbl>
              <a:tblPr firstRow="1" bandRow="1">
                <a:tableStyleId>{25CE2665-CDE5-4DEE-A53D-BA796C76628F}</a:tableStyleId>
              </a:tblPr>
              <a:tblGrid>
                <a:gridCol w="2624667">
                  <a:extLst>
                    <a:ext uri="{9D8B030D-6E8A-4147-A177-3AD203B41FA5}">
                      <a16:colId xmlns:a16="http://schemas.microsoft.com/office/drawing/2014/main" val="619169255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1356052057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2679419334"/>
                    </a:ext>
                  </a:extLst>
                </a:gridCol>
              </a:tblGrid>
              <a:tr h="410029">
                <a:tc>
                  <a:txBody>
                    <a:bodyPr/>
                    <a:lstStyle/>
                    <a:p>
                      <a:pPr algn="ctr"/>
                      <a:r>
                        <a:rPr lang="ru-RU" sz="980" b="1">
                          <a:solidFill>
                            <a:srgbClr val="FFFFFF"/>
                          </a:solidFill>
                          <a:latin typeface="Roboto Condensed"/>
                        </a:rPr>
                        <a:t>Компонент</a:t>
                      </a:r>
                    </a:p>
                  </a:txBody>
                  <a:tcPr marL="38100" marR="38100" marT="25400" marB="25400">
                    <a:solidFill>
                      <a:srgbClr val="2033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80" b="1">
                          <a:solidFill>
                            <a:srgbClr val="FFFFFF"/>
                          </a:solidFill>
                          <a:latin typeface="Roboto Condensed"/>
                        </a:rPr>
                        <a:t>Средство</a:t>
                      </a:r>
                    </a:p>
                  </a:txBody>
                  <a:tcPr marL="38100" marR="38100" marT="25400" marB="25400">
                    <a:solidFill>
                      <a:srgbClr val="2033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80" b="1" dirty="0">
                          <a:solidFill>
                            <a:srgbClr val="FFFFFF"/>
                          </a:solidFill>
                          <a:latin typeface="Roboto Condensed"/>
                        </a:rPr>
                        <a:t>Причина</a:t>
                      </a:r>
                    </a:p>
                  </a:txBody>
                  <a:tcPr marL="38100" marR="38100" marT="25400" marB="25400">
                    <a:solidFill>
                      <a:srgbClr val="2033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335483"/>
                  </a:ext>
                </a:extLst>
              </a:tr>
              <a:tr h="410029"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Язык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C++23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производительность и контроль ресурсов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673062"/>
                  </a:ext>
                </a:extLst>
              </a:tr>
              <a:tr h="410029"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GUI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Qt6 Widgets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настольный интерфейс оператора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25290"/>
                  </a:ext>
                </a:extLst>
              </a:tr>
              <a:tr h="410029"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CV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OpenCV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камеры, кадры, детекция лиц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20910"/>
                  </a:ext>
                </a:extLst>
              </a:tr>
              <a:tr h="410029"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БД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PostgreSQL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профили и журнал событий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7778"/>
                  </a:ext>
                </a:extLst>
              </a:tr>
              <a:tr h="410029"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Векторный поиск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pgvector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поиск ближайших эмбеддингов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997952"/>
                  </a:ext>
                </a:extLst>
              </a:tr>
              <a:tr h="410029">
                <a:tc>
                  <a:txBody>
                    <a:bodyPr/>
                    <a:lstStyle/>
                    <a:p>
                      <a:pPr algn="l"/>
                      <a:r>
                        <a:rPr lang="ru-RU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Конфигурация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80" b="0">
                          <a:solidFill>
                            <a:srgbClr val="203353"/>
                          </a:solidFill>
                          <a:latin typeface="Roboto Condensed"/>
                        </a:rPr>
                        <a:t>YAML</a:t>
                      </a:r>
                      <a:endParaRPr lang="ru-RU" sz="980" b="0">
                        <a:solidFill>
                          <a:srgbClr val="203353"/>
                        </a:solidFill>
                        <a:latin typeface="Roboto Condensed"/>
                      </a:endParaRP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80" b="0" dirty="0">
                          <a:solidFill>
                            <a:srgbClr val="203353"/>
                          </a:solidFill>
                          <a:latin typeface="Roboto Condensed"/>
                        </a:rPr>
                        <a:t>параметры без перекомпиляции</a:t>
                      </a:r>
                    </a:p>
                  </a:txBody>
                  <a:tcPr marL="38100" marR="38100" marT="25400" marB="25400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3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89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Многокамерный прототип в режиме мониторинга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21</a:t>
            </a:r>
            <a:endParaRPr sz="800" b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CBA0C9-15DF-46C6-AE67-6CF8C67D6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A29482-58AD-4343-9A06-50C4EDF3200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1339" y="1294936"/>
            <a:ext cx="3609236" cy="3175000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65B02C-6CE0-453A-B108-D79009D99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6350" y="1380149"/>
            <a:ext cx="4307717" cy="292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0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Интерфейс оператора: мониторинг и события</a:t>
            </a:r>
            <a:endParaRPr sz="1700"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22</a:t>
            </a:r>
            <a:endParaRPr sz="800" b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E71CD2B-CA6A-42FD-8414-312ECCBFA4D8}"/>
              </a:ext>
            </a:extLst>
          </p:cNvPr>
          <p:cNvSpPr/>
          <p:nvPr/>
        </p:nvSpPr>
        <p:spPr>
          <a:xfrm>
            <a:off x="736600" y="3556000"/>
            <a:ext cx="3619500" cy="7366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B8338-51CB-447A-9D1C-1B84D95E2DA2}"/>
              </a:ext>
            </a:extLst>
          </p:cNvPr>
          <p:cNvSpPr txBox="1"/>
          <p:nvPr/>
        </p:nvSpPr>
        <p:spPr>
          <a:xfrm>
            <a:off x="812800" y="3606800"/>
            <a:ext cx="34671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150" b="1">
                <a:solidFill>
                  <a:srgbClr val="EC8400"/>
                </a:solidFill>
                <a:latin typeface="Roboto Condensed"/>
              </a:rPr>
              <a:t>Мониторинг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E0EC8F-3E8E-4092-AE94-40546447973A}"/>
              </a:ext>
            </a:extLst>
          </p:cNvPr>
          <p:cNvSpPr txBox="1"/>
          <p:nvPr/>
        </p:nvSpPr>
        <p:spPr>
          <a:xfrm>
            <a:off x="812800" y="3848100"/>
            <a:ext cx="3467100" cy="73866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020" dirty="0" err="1">
                <a:solidFill>
                  <a:srgbClr val="203353"/>
                </a:solidFill>
                <a:latin typeface="Roboto Condensed"/>
              </a:rPr>
              <a:t>сеткa</a:t>
            </a:r>
            <a:r>
              <a:rPr lang="ru-RU" sz="1020" dirty="0">
                <a:solidFill>
                  <a:srgbClr val="203353"/>
                </a:solidFill>
                <a:latin typeface="Roboto Condensed"/>
              </a:rPr>
              <a:t> видеопотоков, статус камер, рамки найденных лиц и последний результат распознавания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9E28C59-A023-4236-AE11-27EFD9FB813B}"/>
              </a:ext>
            </a:extLst>
          </p:cNvPr>
          <p:cNvSpPr/>
          <p:nvPr/>
        </p:nvSpPr>
        <p:spPr>
          <a:xfrm>
            <a:off x="4826000" y="3556000"/>
            <a:ext cx="3619500" cy="7366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7E56F-6C71-4075-8EC3-12345C32E43B}"/>
              </a:ext>
            </a:extLst>
          </p:cNvPr>
          <p:cNvSpPr txBox="1"/>
          <p:nvPr/>
        </p:nvSpPr>
        <p:spPr>
          <a:xfrm>
            <a:off x="4902200" y="3606800"/>
            <a:ext cx="34671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150" b="1">
                <a:solidFill>
                  <a:srgbClr val="EC8400"/>
                </a:solidFill>
                <a:latin typeface="Roboto Condensed"/>
              </a:rPr>
              <a:t>Журнал событий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FB6C9-EFAA-48A8-95AC-2010ACE0EE70}"/>
              </a:ext>
            </a:extLst>
          </p:cNvPr>
          <p:cNvSpPr txBox="1"/>
          <p:nvPr/>
        </p:nvSpPr>
        <p:spPr>
          <a:xfrm>
            <a:off x="4902200" y="3848100"/>
            <a:ext cx="3467100" cy="73866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noAutofit/>
          </a:bodyPr>
          <a:lstStyle/>
          <a:p>
            <a:r>
              <a:rPr lang="ru-RU" sz="1020">
                <a:solidFill>
                  <a:srgbClr val="203353"/>
                </a:solidFill>
                <a:latin typeface="Roboto Condensed"/>
              </a:rPr>
              <a:t>история распознаваний: время, камера, тип события, решение и ссылка на снимок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9BE6ED-55E5-41DE-9B94-060681F38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228923"/>
            <a:ext cx="3998390" cy="230317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B2394B-F4F4-4C8C-8211-C0508BD80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200" y="1284349"/>
            <a:ext cx="3619500" cy="220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1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Интерфейс оператора: управление и настройки</a:t>
            </a:r>
            <a:endParaRPr sz="1700"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23</a:t>
            </a:r>
            <a:endParaRPr sz="800" b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06235B-DB9D-4834-8BD3-A396CC22509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7" y="1837892"/>
            <a:ext cx="3096344" cy="1776586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sp>
        <p:nvSpPr>
          <p:cNvPr id="2" name="ops-detail-title-1">
            <a:extLst>
              <a:ext uri="{FF2B5EF4-FFF2-40B4-BE49-F238E27FC236}">
                <a16:creationId xmlns:a16="http://schemas.microsoft.com/office/drawing/2014/main" id="{1E57D9C4-4C29-4BEB-9F9A-68532F77DA14}"/>
              </a:ext>
            </a:extLst>
          </p:cNvPr>
          <p:cNvSpPr txBox="1"/>
          <p:nvPr/>
        </p:nvSpPr>
        <p:spPr>
          <a:xfrm>
            <a:off x="323528" y="3771642"/>
            <a:ext cx="2413000" cy="369332"/>
          </a:xfrm>
          <a:prstGeom prst="rect">
            <a:avLst/>
          </a:prstGeom>
          <a:noFill/>
        </p:spPr>
        <p:txBody>
          <a:bodyPr vert="horz" rtlCol="0" anchorCtr="1">
            <a:spAutoFit/>
          </a:bodyPr>
          <a:lstStyle/>
          <a:p>
            <a:r>
              <a:rPr lang="ru-RU" sz="1800" b="1" dirty="0">
                <a:solidFill>
                  <a:srgbClr val="333333"/>
                </a:solidFill>
                <a:latin typeface="Arial" panose="020B0604020202020204" pitchFamily="34" charset="0"/>
              </a:rPr>
              <a:t>Камеры</a:t>
            </a:r>
          </a:p>
        </p:txBody>
      </p:sp>
      <p:sp>
        <p:nvSpPr>
          <p:cNvPr id="4" name="ops-detail-title-2">
            <a:extLst>
              <a:ext uri="{FF2B5EF4-FFF2-40B4-BE49-F238E27FC236}">
                <a16:creationId xmlns:a16="http://schemas.microsoft.com/office/drawing/2014/main" id="{5AA751E9-2CAA-45C4-B695-0651D388C01C}"/>
              </a:ext>
            </a:extLst>
          </p:cNvPr>
          <p:cNvSpPr txBox="1"/>
          <p:nvPr/>
        </p:nvSpPr>
        <p:spPr>
          <a:xfrm>
            <a:off x="3393549" y="3771642"/>
            <a:ext cx="2413000" cy="369332"/>
          </a:xfrm>
          <a:prstGeom prst="rect">
            <a:avLst/>
          </a:prstGeom>
          <a:noFill/>
        </p:spPr>
        <p:txBody>
          <a:bodyPr vert="horz" rtlCol="0" anchorCtr="1">
            <a:spAutoFit/>
          </a:bodyPr>
          <a:lstStyle/>
          <a:p>
            <a:r>
              <a:rPr lang="ru-RU" sz="1800" b="1">
                <a:solidFill>
                  <a:srgbClr val="333333"/>
                </a:solidFill>
                <a:latin typeface="Arial" panose="020B0604020202020204" pitchFamily="34" charset="0"/>
              </a:rPr>
              <a:t>Пользователи</a:t>
            </a:r>
          </a:p>
        </p:txBody>
      </p:sp>
      <p:sp>
        <p:nvSpPr>
          <p:cNvPr id="5" name="ops-detail-title-3">
            <a:extLst>
              <a:ext uri="{FF2B5EF4-FFF2-40B4-BE49-F238E27FC236}">
                <a16:creationId xmlns:a16="http://schemas.microsoft.com/office/drawing/2014/main" id="{67AD1038-A4B1-45C9-B74A-2B94244781C3}"/>
              </a:ext>
            </a:extLst>
          </p:cNvPr>
          <p:cNvSpPr txBox="1"/>
          <p:nvPr/>
        </p:nvSpPr>
        <p:spPr>
          <a:xfrm>
            <a:off x="6300192" y="3771642"/>
            <a:ext cx="2413000" cy="369332"/>
          </a:xfrm>
          <a:prstGeom prst="rect">
            <a:avLst/>
          </a:prstGeom>
          <a:noFill/>
        </p:spPr>
        <p:txBody>
          <a:bodyPr vert="horz" rtlCol="0" anchorCtr="1">
            <a:spAutoFit/>
          </a:bodyPr>
          <a:lstStyle/>
          <a:p>
            <a:r>
              <a:rPr lang="ru-RU" sz="1800" b="1">
                <a:solidFill>
                  <a:srgbClr val="333333"/>
                </a:solidFill>
                <a:latin typeface="Arial" panose="020B0604020202020204" pitchFamily="34" charset="0"/>
              </a:rPr>
              <a:t>Настройки</a:t>
            </a:r>
          </a:p>
        </p:txBody>
      </p:sp>
      <p:sp>
        <p:nvSpPr>
          <p:cNvPr id="7" name="ops-detail-body-1">
            <a:extLst>
              <a:ext uri="{FF2B5EF4-FFF2-40B4-BE49-F238E27FC236}">
                <a16:creationId xmlns:a16="http://schemas.microsoft.com/office/drawing/2014/main" id="{95E4D598-E44A-4DE8-977D-274D70C023F5}"/>
              </a:ext>
            </a:extLst>
          </p:cNvPr>
          <p:cNvSpPr txBox="1"/>
          <p:nvPr/>
        </p:nvSpPr>
        <p:spPr>
          <a:xfrm>
            <a:off x="323528" y="4076442"/>
            <a:ext cx="2413000" cy="415498"/>
          </a:xfrm>
          <a:prstGeom prst="rect">
            <a:avLst/>
          </a:prstGeom>
          <a:noFill/>
        </p:spPr>
        <p:txBody>
          <a:bodyPr vert="horz" rtlCol="0" anchorCtr="1">
            <a:spAutoFit/>
          </a:bodyPr>
          <a:lstStyle/>
          <a:p>
            <a:r>
              <a:rPr lang="ru-RU" sz="1050">
                <a:solidFill>
                  <a:srgbClr val="333333"/>
                </a:solidFill>
                <a:latin typeface="Arial" panose="020B0604020202020204" pitchFamily="34" charset="0"/>
              </a:rPr>
              <a:t>добавление источников, статус потока и выбор основной камеры</a:t>
            </a:r>
          </a:p>
        </p:txBody>
      </p:sp>
      <p:sp>
        <p:nvSpPr>
          <p:cNvPr id="9" name="ops-detail-body-2">
            <a:extLst>
              <a:ext uri="{FF2B5EF4-FFF2-40B4-BE49-F238E27FC236}">
                <a16:creationId xmlns:a16="http://schemas.microsoft.com/office/drawing/2014/main" id="{EE895963-4AB5-4311-9E26-D5E6E18F4C1D}"/>
              </a:ext>
            </a:extLst>
          </p:cNvPr>
          <p:cNvSpPr txBox="1"/>
          <p:nvPr/>
        </p:nvSpPr>
        <p:spPr>
          <a:xfrm>
            <a:off x="3393549" y="4076442"/>
            <a:ext cx="2413000" cy="415498"/>
          </a:xfrm>
          <a:prstGeom prst="rect">
            <a:avLst/>
          </a:prstGeom>
          <a:noFill/>
        </p:spPr>
        <p:txBody>
          <a:bodyPr vert="horz" rtlCol="0" anchorCtr="1">
            <a:spAutoFit/>
          </a:bodyPr>
          <a:lstStyle/>
          <a:p>
            <a:r>
              <a:rPr lang="ru-RU" sz="1050" dirty="0">
                <a:solidFill>
                  <a:srgbClr val="333333"/>
                </a:solidFill>
                <a:latin typeface="Arial" panose="020B0604020202020204" pitchFamily="34" charset="0"/>
              </a:rPr>
              <a:t>карточки персонала, фото, роли и доступ к системе</a:t>
            </a:r>
          </a:p>
        </p:txBody>
      </p:sp>
      <p:sp>
        <p:nvSpPr>
          <p:cNvPr id="11" name="ops-detail-body-3">
            <a:extLst>
              <a:ext uri="{FF2B5EF4-FFF2-40B4-BE49-F238E27FC236}">
                <a16:creationId xmlns:a16="http://schemas.microsoft.com/office/drawing/2014/main" id="{1951BA1D-A69E-4758-A431-F550B32094BA}"/>
              </a:ext>
            </a:extLst>
          </p:cNvPr>
          <p:cNvSpPr txBox="1"/>
          <p:nvPr/>
        </p:nvSpPr>
        <p:spPr>
          <a:xfrm>
            <a:off x="6300192" y="4076442"/>
            <a:ext cx="2413000" cy="415498"/>
          </a:xfrm>
          <a:prstGeom prst="rect">
            <a:avLst/>
          </a:prstGeom>
          <a:noFill/>
        </p:spPr>
        <p:txBody>
          <a:bodyPr vert="horz" rtlCol="0" anchorCtr="1">
            <a:spAutoFit/>
          </a:bodyPr>
          <a:lstStyle/>
          <a:p>
            <a:r>
              <a:rPr lang="ru-RU" sz="1050">
                <a:solidFill>
                  <a:srgbClr val="333333"/>
                </a:solidFill>
                <a:latin typeface="Arial" panose="020B0604020202020204" pitchFamily="34" charset="0"/>
              </a:rPr>
              <a:t>редактирование app_config.yaml и параметров работы стенда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552A55-DAFC-406C-8379-065AE755C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742" y="1821391"/>
            <a:ext cx="2782933" cy="17250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9459ED6-493F-4B3A-B7A6-BCD53E357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239" y="1746234"/>
            <a:ext cx="3023761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62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Испытательный стенд</a:t>
            </a:r>
            <a:endParaRPr sz="1700" dirty="0"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24</a:t>
            </a:r>
            <a:endParaRPr sz="800" b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D3B2712-F842-48CD-92C4-A63BE06B6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783339"/>
              </p:ext>
            </p:extLst>
          </p:nvPr>
        </p:nvGraphicFramePr>
        <p:xfrm>
          <a:off x="736600" y="1397000"/>
          <a:ext cx="3365500" cy="3059659"/>
        </p:xfrm>
        <a:graphic>
          <a:graphicData uri="http://schemas.openxmlformats.org/drawingml/2006/table">
            <a:tbl>
              <a:tblPr firstRow="1" bandRow="1">
                <a:tableStyleId>{25CE2665-CDE5-4DEE-A53D-BA796C76628F}</a:tableStyleId>
              </a:tblPr>
              <a:tblGrid>
                <a:gridCol w="1682750">
                  <a:extLst>
                    <a:ext uri="{9D8B030D-6E8A-4147-A177-3AD203B41FA5}">
                      <a16:colId xmlns:a16="http://schemas.microsoft.com/office/drawing/2014/main" val="354892198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378969270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ru-RU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Компонент</a:t>
                      </a:r>
                    </a:p>
                  </a:txBody>
                  <a:tcPr marL="50800" marR="50800" marT="25400" marB="25400">
                    <a:solidFill>
                      <a:srgbClr val="2033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Характеристика</a:t>
                      </a:r>
                    </a:p>
                  </a:txBody>
                  <a:tcPr marL="50800" marR="50800" marT="25400" marB="25400">
                    <a:solidFill>
                      <a:srgbClr val="2033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246317"/>
                  </a:ext>
                </a:extLst>
              </a:tr>
              <a:tr h="366151">
                <a:tc>
                  <a:txBody>
                    <a:bodyPr/>
                    <a:lstStyle/>
                    <a:p>
                      <a:pPr algn="l"/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ОС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Windows 11 Pro x64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062571"/>
                  </a:ext>
                </a:extLst>
              </a:tr>
              <a:tr h="371882"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CPU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AMD Ryzen 7 5700U, 8 ядер / 16 потоков</a:t>
                      </a:r>
                    </a:p>
                  </a:txBody>
                  <a:tcPr marL="50800" marR="50800" marT="25400" marB="25400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228680"/>
                  </a:ext>
                </a:extLst>
              </a:tr>
              <a:tr h="366151"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RAM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16 ГБ </a:t>
                      </a:r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DDR4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335151"/>
                  </a:ext>
                </a:extLst>
              </a:tr>
              <a:tr h="371882">
                <a:tc>
                  <a:txBody>
                    <a:bodyPr/>
                    <a:lstStyle/>
                    <a:p>
                      <a:pPr algn="l"/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Сборка</a:t>
                      </a:r>
                    </a:p>
                  </a:txBody>
                  <a:tcPr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CMake + Visual Studio + vcpkg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769619"/>
                  </a:ext>
                </a:extLst>
              </a:tr>
              <a:tr h="371882">
                <a:tc>
                  <a:txBody>
                    <a:bodyPr/>
                    <a:lstStyle/>
                    <a:p>
                      <a:pPr algn="l"/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Камеры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USB-</a:t>
                      </a:r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камера, </a:t>
                      </a:r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HTTP-</a:t>
                      </a:r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камеры </a:t>
                      </a:r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Dahua, </a:t>
                      </a:r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подключение через </a:t>
                      </a:r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D-Link PoE switch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42120"/>
                  </a:ext>
                </a:extLst>
              </a:tr>
              <a:tr h="366151">
                <a:tc>
                  <a:txBody>
                    <a:bodyPr/>
                    <a:lstStyle/>
                    <a:p>
                      <a:pPr algn="l"/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СУБД</a:t>
                      </a:r>
                    </a:p>
                  </a:txBody>
                  <a:tcPr marL="50800" marR="50800" marT="25400" marB="25400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PostgreSQL 18 + pgvector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1800"/>
                  </a:ext>
                </a:extLst>
              </a:tr>
              <a:tr h="366151">
                <a:tc>
                  <a:txBody>
                    <a:bodyPr/>
                    <a:lstStyle/>
                    <a:p>
                      <a:pPr algn="l"/>
                      <a:r>
                        <a:rPr lang="ru-RU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Конфигурация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203353"/>
                          </a:solidFill>
                          <a:latin typeface="Arial" panose="020B0604020202020204" pitchFamily="34" charset="0"/>
                        </a:rPr>
                        <a:t>YAML, app_config.yaml</a:t>
                      </a:r>
                      <a:endParaRPr lang="ru-RU" sz="950" b="0">
                        <a:solidFill>
                          <a:srgbClr val="20335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270762"/>
                  </a:ext>
                </a:extLst>
              </a:tr>
            </a:tbl>
          </a:graphicData>
        </a:graphic>
      </p:graphicFrame>
      <p:sp>
        <p:nvSpPr>
          <p:cNvPr id="5" name="prototype-stand-caption">
            <a:extLst>
              <a:ext uri="{FF2B5EF4-FFF2-40B4-BE49-F238E27FC236}">
                <a16:creationId xmlns:a16="http://schemas.microsoft.com/office/drawing/2014/main" id="{F9ADB80C-69DB-4C9E-A615-3C3FEB6CAAFF}"/>
              </a:ext>
            </a:extLst>
          </p:cNvPr>
          <p:cNvSpPr txBox="1"/>
          <p:nvPr/>
        </p:nvSpPr>
        <p:spPr>
          <a:xfrm>
            <a:off x="4381500" y="4203700"/>
            <a:ext cx="3683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150" b="1">
                <a:solidFill>
                  <a:srgbClr val="333333"/>
                </a:solidFill>
                <a:latin typeface="Arial" panose="020B0604020202020204" pitchFamily="34" charset="0"/>
              </a:rPr>
              <a:t>Фото стенда: ноутбук с прототипом, камеры Dahua и D-Link PoE switch.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50C615F-E457-4433-BDE3-4A0EC3FD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7585"/>
            <a:ext cx="3634556" cy="27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9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Нагрузка при подключении 1-4 камер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25</a:t>
            </a:r>
            <a:endParaRPr sz="800" b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94C6DD-5D7D-4B39-80A3-22F765F79E7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630995"/>
            <a:ext cx="5207000" cy="2186310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2D96C82-C635-45DC-A7E3-676783ED289D}"/>
              </a:ext>
            </a:extLst>
          </p:cNvPr>
          <p:cNvSpPr/>
          <p:nvPr/>
        </p:nvSpPr>
        <p:spPr>
          <a:xfrm>
            <a:off x="698500" y="1752600"/>
            <a:ext cx="1905000" cy="7874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79891-D1FA-448E-861A-0003EA6159EB}"/>
              </a:ext>
            </a:extLst>
          </p:cNvPr>
          <p:cNvSpPr txBox="1"/>
          <p:nvPr/>
        </p:nvSpPr>
        <p:spPr>
          <a:xfrm>
            <a:off x="749300" y="1828800"/>
            <a:ext cx="1803400" cy="3175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2000" b="1">
                <a:solidFill>
                  <a:srgbClr val="EC8400"/>
                </a:solidFill>
                <a:latin typeface="Roboto Condensed"/>
              </a:rPr>
              <a:t>18 -&gt; 58%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CCFA2-2D26-4A5F-86AD-D79E61BC3C8A}"/>
              </a:ext>
            </a:extLst>
          </p:cNvPr>
          <p:cNvSpPr txBox="1"/>
          <p:nvPr/>
        </p:nvSpPr>
        <p:spPr>
          <a:xfrm>
            <a:off x="774700" y="2184400"/>
            <a:ext cx="1752600" cy="52322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sz="950" b="1">
                <a:solidFill>
                  <a:srgbClr val="203353"/>
                </a:solidFill>
                <a:latin typeface="Roboto Condensed"/>
              </a:rPr>
              <a:t>CPU </a:t>
            </a:r>
            <a:r>
              <a:rPr lang="ru-RU" sz="950" b="1">
                <a:solidFill>
                  <a:srgbClr val="203353"/>
                </a:solidFill>
                <a:latin typeface="Roboto Condensed"/>
              </a:rPr>
              <a:t>при 1-4 камерах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FEB4D8E-44E2-46E8-A2B9-31CB598DD832}"/>
              </a:ext>
            </a:extLst>
          </p:cNvPr>
          <p:cNvSpPr/>
          <p:nvPr/>
        </p:nvSpPr>
        <p:spPr>
          <a:xfrm>
            <a:off x="698500" y="2794000"/>
            <a:ext cx="1905000" cy="7874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798FFD-955D-43FB-A5EC-123CD3BFB7DD}"/>
              </a:ext>
            </a:extLst>
          </p:cNvPr>
          <p:cNvSpPr txBox="1"/>
          <p:nvPr/>
        </p:nvSpPr>
        <p:spPr>
          <a:xfrm>
            <a:off x="749300" y="2870200"/>
            <a:ext cx="1803400" cy="3175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2000" b="1">
                <a:solidFill>
                  <a:srgbClr val="EC8400"/>
                </a:solidFill>
                <a:latin typeface="Roboto Condensed"/>
              </a:rPr>
              <a:t>410 -&gt; 760 МБ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33695-BC36-49DF-B034-691DE1213150}"/>
              </a:ext>
            </a:extLst>
          </p:cNvPr>
          <p:cNvSpPr txBox="1"/>
          <p:nvPr/>
        </p:nvSpPr>
        <p:spPr>
          <a:xfrm>
            <a:off x="774700" y="3225800"/>
            <a:ext cx="1752600" cy="52322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950" b="1">
                <a:solidFill>
                  <a:srgbClr val="203353"/>
                </a:solidFill>
                <a:latin typeface="Roboto Condensed"/>
              </a:rPr>
              <a:t>потребление памяти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8C98272-7A81-4C0C-8ABD-FD2397E5D2F6}"/>
              </a:ext>
            </a:extLst>
          </p:cNvPr>
          <p:cNvSpPr/>
          <p:nvPr/>
        </p:nvSpPr>
        <p:spPr>
          <a:xfrm>
            <a:off x="1763688" y="4268222"/>
            <a:ext cx="5207000" cy="3810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>
            <a:noAutofit/>
          </a:bodyPr>
          <a:lstStyle/>
          <a:p>
            <a:r>
              <a:rPr lang="ru-RU" sz="1250" b="1">
                <a:solidFill>
                  <a:srgbClr val="203353"/>
                </a:solidFill>
                <a:latin typeface="Roboto Condensed"/>
              </a:rPr>
              <a:t>Работоспособно; масштабирование требует оптимизации и GPU.</a:t>
            </a:r>
          </a:p>
        </p:txBody>
      </p:sp>
    </p:spTree>
    <p:extLst>
      <p:ext uri="{BB962C8B-B14F-4D97-AF65-F5344CB8AC3E}">
        <p14:creationId xmlns:p14="http://schemas.microsoft.com/office/powerpoint/2010/main" val="3339897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Время обработки кадра и частота обновления</a:t>
            </a:r>
            <a:endParaRPr sz="1700" dirty="0"/>
          </a:p>
        </p:txBody>
      </p:sp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26</a:t>
            </a:r>
            <a:endParaRPr sz="800" b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F7F826-FEC4-4D22-B39D-C0FE5064013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604756"/>
            <a:ext cx="5334000" cy="2238789"/>
          </a:xfrm>
          <a:prstGeom prst="rect">
            <a:avLst/>
          </a:prstGeom>
          <a:ln w="9525">
            <a:solidFill>
              <a:srgbClr val="203353"/>
            </a:solidFill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32F50E-AD88-4D72-9A28-18828669911E}"/>
              </a:ext>
            </a:extLst>
          </p:cNvPr>
          <p:cNvSpPr/>
          <p:nvPr/>
        </p:nvSpPr>
        <p:spPr>
          <a:xfrm>
            <a:off x="571500" y="1752600"/>
            <a:ext cx="2095500" cy="7874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CB03A-F75A-4B08-A3BC-D3C8CF810D06}"/>
              </a:ext>
            </a:extLst>
          </p:cNvPr>
          <p:cNvSpPr txBox="1"/>
          <p:nvPr/>
        </p:nvSpPr>
        <p:spPr>
          <a:xfrm>
            <a:off x="622300" y="1841500"/>
            <a:ext cx="19939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1800" b="1" dirty="0">
                <a:solidFill>
                  <a:srgbClr val="EC8400"/>
                </a:solidFill>
                <a:latin typeface="Roboto Condensed"/>
              </a:rPr>
              <a:t>38 -&gt; 82 </a:t>
            </a:r>
            <a:r>
              <a:rPr lang="ru-RU" sz="1800" b="1" dirty="0" err="1">
                <a:solidFill>
                  <a:srgbClr val="EC8400"/>
                </a:solidFill>
                <a:latin typeface="Roboto Condensed"/>
              </a:rPr>
              <a:t>мс</a:t>
            </a:r>
            <a:endParaRPr lang="ru-RU" sz="1800" b="1" dirty="0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04A4E-EFD6-4EED-9F4E-06BBD88CAF30}"/>
              </a:ext>
            </a:extLst>
          </p:cNvPr>
          <p:cNvSpPr txBox="1"/>
          <p:nvPr/>
        </p:nvSpPr>
        <p:spPr>
          <a:xfrm>
            <a:off x="647700" y="2197100"/>
            <a:ext cx="19431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950" b="1">
                <a:solidFill>
                  <a:srgbClr val="203353"/>
                </a:solidFill>
                <a:latin typeface="Roboto Condensed"/>
              </a:rPr>
              <a:t>время кадра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AFAC192-6A43-4617-B37E-F3CE8F3444ED}"/>
              </a:ext>
            </a:extLst>
          </p:cNvPr>
          <p:cNvSpPr/>
          <p:nvPr/>
        </p:nvSpPr>
        <p:spPr>
          <a:xfrm>
            <a:off x="571500" y="2794000"/>
            <a:ext cx="2095500" cy="787400"/>
          </a:xfrm>
          <a:prstGeom prst="rect">
            <a:avLst/>
          </a:prstGeom>
          <a:solidFill>
            <a:srgbClr val="EFF3F9"/>
          </a:solidFill>
          <a:ln w="9525">
            <a:solidFill>
              <a:srgbClr val="DEE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8677D8-1F6B-4ADB-9B16-A1273AE3E220}"/>
              </a:ext>
            </a:extLst>
          </p:cNvPr>
          <p:cNvSpPr txBox="1"/>
          <p:nvPr/>
        </p:nvSpPr>
        <p:spPr>
          <a:xfrm>
            <a:off x="622300" y="2882900"/>
            <a:ext cx="19939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sz="1800" b="1">
                <a:solidFill>
                  <a:srgbClr val="EC8400"/>
                </a:solidFill>
                <a:latin typeface="Roboto Condensed"/>
              </a:rPr>
              <a:t>15,2 -&gt; 9,8 FPS</a:t>
            </a:r>
            <a:endParaRPr lang="ru-RU" sz="1800" b="1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474AE-2696-464B-A13F-8E0CB8107EFE}"/>
              </a:ext>
            </a:extLst>
          </p:cNvPr>
          <p:cNvSpPr txBox="1"/>
          <p:nvPr/>
        </p:nvSpPr>
        <p:spPr>
          <a:xfrm>
            <a:off x="647700" y="3238500"/>
            <a:ext cx="19431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ru-RU" sz="950" b="1">
                <a:solidFill>
                  <a:srgbClr val="203353"/>
                </a:solidFill>
                <a:latin typeface="Roboto Condensed"/>
              </a:rPr>
              <a:t>частота на канал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7F42BA-DC6D-4AF4-B473-6C0A6A5E5727}"/>
              </a:ext>
            </a:extLst>
          </p:cNvPr>
          <p:cNvSpPr/>
          <p:nvPr/>
        </p:nvSpPr>
        <p:spPr>
          <a:xfrm>
            <a:off x="1475656" y="4135465"/>
            <a:ext cx="5334000" cy="4826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r>
              <a:rPr lang="ru-RU" sz="1250" b="1" dirty="0">
                <a:solidFill>
                  <a:srgbClr val="203353"/>
                </a:solidFill>
                <a:latin typeface="Roboto Condensed"/>
              </a:rPr>
              <a:t>Прототип пригоден для учебной демонстрации но для промышленной эксплуатации нужны GPU.</a:t>
            </a:r>
          </a:p>
        </p:txBody>
      </p:sp>
    </p:spTree>
    <p:extLst>
      <p:ext uri="{BB962C8B-B14F-4D97-AF65-F5344CB8AC3E}">
        <p14:creationId xmlns:p14="http://schemas.microsoft.com/office/powerpoint/2010/main" val="1453467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700"/>
              <a:t>Итоги и дальнейшее развитие</a:t>
            </a:r>
            <a:endParaRPr sz="17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27</a:t>
            </a:r>
            <a:endParaRPr sz="800" b="0"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A44757C8-AD50-40E9-BC34-82E46BB925C5}"/>
              </a:ext>
            </a:extLst>
          </p:cNvPr>
          <p:cNvSpPr/>
          <p:nvPr/>
        </p:nvSpPr>
        <p:spPr>
          <a:xfrm>
            <a:off x="1143000" y="16002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ED5B5-218F-4EE7-AC6B-08AA27F06F9B}"/>
              </a:ext>
            </a:extLst>
          </p:cNvPr>
          <p:cNvSpPr txBox="1"/>
          <p:nvPr/>
        </p:nvSpPr>
        <p:spPr>
          <a:xfrm>
            <a:off x="1498600" y="1549400"/>
            <a:ext cx="65024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450">
                <a:solidFill>
                  <a:srgbClr val="203353"/>
                </a:solidFill>
                <a:latin typeface="Roboto Condensed"/>
              </a:rPr>
              <a:t>разработан прототип видеонаблюдения с идентификацией лица</a:t>
            </a:r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025023D6-A99D-49AF-B7EA-81609AA8AEFF}"/>
              </a:ext>
            </a:extLst>
          </p:cNvPr>
          <p:cNvSpPr/>
          <p:nvPr/>
        </p:nvSpPr>
        <p:spPr>
          <a:xfrm>
            <a:off x="1143000" y="20066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01BF3-4C9E-4E46-B20C-CEA4D6F9D613}"/>
              </a:ext>
            </a:extLst>
          </p:cNvPr>
          <p:cNvSpPr txBox="1"/>
          <p:nvPr/>
        </p:nvSpPr>
        <p:spPr>
          <a:xfrm>
            <a:off x="1498600" y="1955800"/>
            <a:ext cx="65024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450">
                <a:solidFill>
                  <a:srgbClr val="203353"/>
                </a:solidFill>
                <a:latin typeface="Roboto Condensed"/>
              </a:rPr>
              <a:t>обоснован выбор детектора и мультиэталонного подхода</a:t>
            </a:r>
          </a:p>
        </p:txBody>
      </p:sp>
      <p:sp>
        <p:nvSpPr>
          <p:cNvPr id="8" name="Равнобедренный треугольник 7">
            <a:extLst>
              <a:ext uri="{FF2B5EF4-FFF2-40B4-BE49-F238E27FC236}">
                <a16:creationId xmlns:a16="http://schemas.microsoft.com/office/drawing/2014/main" id="{EEF99356-D65B-495C-BB00-74952DC0CF7F}"/>
              </a:ext>
            </a:extLst>
          </p:cNvPr>
          <p:cNvSpPr/>
          <p:nvPr/>
        </p:nvSpPr>
        <p:spPr>
          <a:xfrm>
            <a:off x="1143000" y="24130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385F6-569E-4024-8809-81860126A2EF}"/>
              </a:ext>
            </a:extLst>
          </p:cNvPr>
          <p:cNvSpPr txBox="1"/>
          <p:nvPr/>
        </p:nvSpPr>
        <p:spPr>
          <a:xfrm>
            <a:off x="1498600" y="2362200"/>
            <a:ext cx="65024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450" dirty="0">
                <a:solidFill>
                  <a:srgbClr val="203353"/>
                </a:solidFill>
                <a:latin typeface="Roboto Condensed"/>
              </a:rPr>
              <a:t>спроектированы архитектура, БД, классы</a:t>
            </a:r>
          </a:p>
        </p:txBody>
      </p:sp>
      <p:sp>
        <p:nvSpPr>
          <p:cNvPr id="10" name="Равнобедренный треугольник 9">
            <a:extLst>
              <a:ext uri="{FF2B5EF4-FFF2-40B4-BE49-F238E27FC236}">
                <a16:creationId xmlns:a16="http://schemas.microsoft.com/office/drawing/2014/main" id="{F8B7D7E1-12A9-428E-9C3A-F92D34C83D41}"/>
              </a:ext>
            </a:extLst>
          </p:cNvPr>
          <p:cNvSpPr/>
          <p:nvPr/>
        </p:nvSpPr>
        <p:spPr>
          <a:xfrm>
            <a:off x="1143000" y="28194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502021-B476-47B6-8351-7E52AD27C982}"/>
              </a:ext>
            </a:extLst>
          </p:cNvPr>
          <p:cNvSpPr txBox="1"/>
          <p:nvPr/>
        </p:nvSpPr>
        <p:spPr>
          <a:xfrm>
            <a:off x="1498600" y="2768600"/>
            <a:ext cx="65024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450">
                <a:solidFill>
                  <a:srgbClr val="203353"/>
                </a:solidFill>
                <a:latin typeface="Roboto Condensed"/>
              </a:rPr>
              <a:t>реализованы камеры, регистрация, журнал, настройки и интерфейс</a:t>
            </a:r>
          </a:p>
        </p:txBody>
      </p:sp>
      <p:sp>
        <p:nvSpPr>
          <p:cNvPr id="12" name="Равнобедренный треугольник 11">
            <a:extLst>
              <a:ext uri="{FF2B5EF4-FFF2-40B4-BE49-F238E27FC236}">
                <a16:creationId xmlns:a16="http://schemas.microsoft.com/office/drawing/2014/main" id="{49DF54CC-8B6A-420B-A565-6F3F4E7003A2}"/>
              </a:ext>
            </a:extLst>
          </p:cNvPr>
          <p:cNvSpPr/>
          <p:nvPr/>
        </p:nvSpPr>
        <p:spPr>
          <a:xfrm>
            <a:off x="1143000" y="3225800"/>
            <a:ext cx="177800" cy="127000"/>
          </a:xfrm>
          <a:prstGeom prst="triangle">
            <a:avLst/>
          </a:prstGeom>
          <a:solidFill>
            <a:srgbClr val="DEE6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AEA90D-1F5C-44A2-8C70-E82968619B32}"/>
              </a:ext>
            </a:extLst>
          </p:cNvPr>
          <p:cNvSpPr txBox="1"/>
          <p:nvPr/>
        </p:nvSpPr>
        <p:spPr>
          <a:xfrm>
            <a:off x="1498600" y="3175000"/>
            <a:ext cx="6502400" cy="30777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ru-RU" sz="1450">
                <a:solidFill>
                  <a:srgbClr val="203353"/>
                </a:solidFill>
                <a:latin typeface="Roboto Condensed"/>
              </a:rPr>
              <a:t>дальше: антиспуфинг, GPU, правила доступа и интеграция с «Бастион-2»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7546B3-4FC3-49DF-BACB-309BE4B9C4B3}"/>
              </a:ext>
            </a:extLst>
          </p:cNvPr>
          <p:cNvSpPr/>
          <p:nvPr/>
        </p:nvSpPr>
        <p:spPr>
          <a:xfrm>
            <a:off x="1320800" y="4165600"/>
            <a:ext cx="6477000" cy="482600"/>
          </a:xfrm>
          <a:prstGeom prst="rect">
            <a:avLst/>
          </a:prstGeom>
          <a:solidFill>
            <a:srgbClr val="EFF3F9"/>
          </a:solidFill>
          <a:ln w="19050">
            <a:solidFill>
              <a:srgbClr val="EC8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r>
              <a:rPr lang="ru-RU" sz="1300" b="1">
                <a:solidFill>
                  <a:srgbClr val="203353"/>
                </a:solidFill>
                <a:latin typeface="Roboto Condensed"/>
              </a:rPr>
              <a:t>Главный результат: показан полный цикл системы от видеопотока до события доступа и пути внедрения в СКУД.</a:t>
            </a:r>
          </a:p>
        </p:txBody>
      </p:sp>
    </p:spTree>
    <p:extLst>
      <p:ext uri="{BB962C8B-B14F-4D97-AF65-F5344CB8AC3E}">
        <p14:creationId xmlns:p14="http://schemas.microsoft.com/office/powerpoint/2010/main" val="195123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395536" y="555526"/>
            <a:ext cx="4094400" cy="1159800"/>
          </a:xfrm>
          <a:prstGeom prst="rect">
            <a:avLst/>
          </a:prstGeom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4400" dirty="0">
                <a:solidFill>
                  <a:schemeClr val="tx1"/>
                </a:solidFill>
              </a:rPr>
              <a:t>Спасибо за внимание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222" name="Google Shape;222;p14"/>
          <p:cNvSpPr txBox="1">
            <a:spLocks noGrp="1"/>
          </p:cNvSpPr>
          <p:nvPr>
            <p:ph type="subTitle" idx="1"/>
          </p:nvPr>
        </p:nvSpPr>
        <p:spPr>
          <a:xfrm>
            <a:off x="463524" y="3975449"/>
            <a:ext cx="4252491" cy="784800"/>
          </a:xfrm>
          <a:prstGeom prst="rect">
            <a:avLst/>
          </a:prstGeom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ru-RU" sz="1600" b="1">
                <a:solidFill>
                  <a:srgbClr val="EC8400"/>
                </a:solidFill>
                <a:latin typeface="Roboto Condensed"/>
              </a:rPr>
              <a:t>Готов ответить на вопросы</a:t>
            </a:r>
            <a:endParaRPr sz="1600" b="1" dirty="0">
              <a:solidFill>
                <a:srgbClr val="EC8400"/>
              </a:solidFill>
              <a:latin typeface="Roboto Condensed"/>
            </a:endParaRPr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800" b="0"/>
              <a:t>28</a:t>
            </a:r>
            <a:endParaRPr sz="800" b="0"/>
          </a:p>
        </p:txBody>
      </p:sp>
    </p:spTree>
    <p:extLst>
      <p:ext uri="{BB962C8B-B14F-4D97-AF65-F5344CB8AC3E}">
        <p14:creationId xmlns:p14="http://schemas.microsoft.com/office/powerpoint/2010/main" val="137686639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</TotalTime>
  <Words>907</Words>
  <Application>Microsoft Office PowerPoint</Application>
  <PresentationFormat>Экран (16:9)</PresentationFormat>
  <Paragraphs>184</Paragraphs>
  <Slides>25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Roboto Condensed Light</vt:lpstr>
      <vt:lpstr>Arial</vt:lpstr>
      <vt:lpstr>Arvo</vt:lpstr>
      <vt:lpstr>Roboto Condensed</vt:lpstr>
      <vt:lpstr>Salerio template</vt:lpstr>
      <vt:lpstr>Разработка системы видеонаблюдения с биометрической идентификацией личности на основе анализа и сравнения признаков лица</vt:lpstr>
      <vt:lpstr>Цель, объект и требования к прототипу</vt:lpstr>
      <vt:lpstr>Задачи ВКР</vt:lpstr>
      <vt:lpstr>Актуальность и постановка проблемы</vt:lpstr>
      <vt:lpstr>Анализ подходов к идентификации</vt:lpstr>
      <vt:lpstr>Поток обработки кадра и принятия решения</vt:lpstr>
      <vt:lpstr>Сценарии применения и контур внедрения</vt:lpstr>
      <vt:lpstr>Сравнение архитектур детектирования лица</vt:lpstr>
      <vt:lpstr>Временные показатели детекторов</vt:lpstr>
      <vt:lpstr>Качественные показатели детекторов</vt:lpstr>
      <vt:lpstr>Анализ извлечения признаков лица</vt:lpstr>
      <vt:lpstr>Архитектура программного комплекса</vt:lpstr>
      <vt:lpstr>Модель данных: PostgreSQL + pgvector</vt:lpstr>
      <vt:lpstr>Диаграмма классов программного комплекса</vt:lpstr>
      <vt:lpstr>IDEF0: контекст системы</vt:lpstr>
      <vt:lpstr>Взаимодействие с камерами, оператором и будущей СКУД</vt:lpstr>
      <vt:lpstr>Технологический стек реализации</vt:lpstr>
      <vt:lpstr>Многокамерный прототип в режиме мониторинга</vt:lpstr>
      <vt:lpstr>Интерфейс оператора: мониторинг и события</vt:lpstr>
      <vt:lpstr>Интерфейс оператора: управление и настройки</vt:lpstr>
      <vt:lpstr>Испытательный стенд</vt:lpstr>
      <vt:lpstr>Нагрузка при подключении 1-4 камер</vt:lpstr>
      <vt:lpstr>Время обработки кадра и частота обновления</vt:lpstr>
      <vt:lpstr>Итоги и дальнейшее развитие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ДЛЯ ИАТЭ НИЯУ МИФИ</dc:title>
  <dc:creator>A.V.Radaev</dc:creator>
  <cp:lastModifiedBy>Даниил Смирнов</cp:lastModifiedBy>
  <cp:revision>42</cp:revision>
  <dcterms:modified xsi:type="dcterms:W3CDTF">2026-06-18T11:22:18Z</dcterms:modified>
</cp:coreProperties>
</file>